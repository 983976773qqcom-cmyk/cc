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【教师时间】0—1分钟，约1分钟。时间不显示在学生页。</a:t>
            </a:r>
          </a:p>
          <a:p>
            <a:r>
              <a:t>【教学设计】真正的故事封面。告诉孩子今天要帮助森林里的小兔听清朋友说话。先不展示实验结果，前60分钟为知识与活动，后30分钟为制作验证。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【下一步衔接】本页发现要用于理解下一页：小兔为什么没听清？。先请孩子用一句话说出本页收获，再提出下一页问题。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【教师时间】1—4分钟，约3分钟。时间不显示在学生页。</a:t>
            </a:r>
          </a:p>
          <a:p>
            <a:r>
              <a:t>【教学设计】故事起点。小狐狸想邀请远处的小兔来玩，但小兔没听清。请孩子想象距离、环境噪声、方向；不预设只有使劲喊。先向同桌说一种办法，再邀请几位回答，教师用手势指认“距离、安静、方向”。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【下一步衔接】本页发现要用于理解下一页：你来帮它选办法。先请孩子用一句话说出本页收获，再提出下一页问题。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【教师时间】4—7分钟，约3分钟。时间不显示在学生页。</a:t>
            </a:r>
          </a:p>
          <a:p>
            <a:r>
              <a:t>【教学设计】活动一：办法投票。教师用手势分别代表靠近、安静、喊。孩子选择并说明；可以多选，讨论使劲喊伤嗓子且不一定有效。将正确思路与后面声音传播和扩音问题连接。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【下一步衔接】本页发现要用于理解下一页：声音侦探，出动！。先请孩子用一句话说出本页收获，再提出下一页问题。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【教师时间】7—10分钟，约3分钟。时间不显示在学生页。</a:t>
            </a:r>
          </a:p>
          <a:p>
            <a:r>
              <a:t>【教学设计】活动二：安静听10秒，寻找教室正在发出的声音，不能为找声音敲打尖锐器材。指认一个声音来自什么物体。教师归纳声源，提出“发声的时候，哪里在动？”可让孩子正常说话、轻轻拍一次手，避免全班持续嘈杂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【下一步衔接】本页发现要用于理解下一页：发声的物体，叫“声源”。先请孩子用一句话说出本页收获，再提出下一页问题。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【教师时间】10—12分钟，约2分钟。时间不显示在学生页。</a:t>
            </a:r>
          </a:p>
          <a:p>
            <a:r>
              <a:t>【教学设计】接住声音侦探的发现，正式定义声源是发出声音的物体。正常说话时声带是声源，不把嘴或耳朵当作声源。鼓面也是例子。先让学生指认，再给出词汇；自然提出“声源里面，什么在动？”引到下一页喉部观察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【下一步衔接】本页发现要用于理解下一页：说“啊——”，摸到什么？。先请孩子用一句话说出本页收获，再提出下一页问题。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【教师时间】12—15分钟，约3分钟。时间不显示在学生页。</a:t>
            </a:r>
          </a:p>
          <a:p>
            <a:r>
              <a:t>【教学设计】活动三：教师示范指尖轻触自己的喉咙外侧，正常音量发“啊”，停止再比较；不按压喉咙，不碰同伴，不大喊。低年级描述感觉，高年级用发声与停下的对比作为证据。感受是相关振动线索，解释发声时声带振动。可在本页后由用户自行插入真实声带/鼓面慢动作视频；当前PPT没有视频或占位页，视频时间应从本环节中调整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【下一步衔接】本页发现要用于理解下一页：声音，来自振动！。先请孩子用一句话说出本页收获，再提出下一页问题。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【教师时间】15—17分钟，约2分钟。时间不显示在学生页。</a:t>
            </a:r>
          </a:p>
          <a:p>
            <a:r>
              <a:t>【教学设计】用一条知识结论收束刚才的体验：声音由振动产生。琴弦和鼓面为示意实例，不要求现场有真实器材。振动可能小或很快，肉眼看不到不能断言没有振动。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【下一步衔接】本页发现要用于理解下一页：声音红绿灯。先请孩子用一句话说出本页收获，再提出下一页问题。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【教师时间】17—19分钟，约2分钟。时间不显示在学生页。</a:t>
            </a:r>
          </a:p>
          <a:p>
            <a:r>
              <a:t>【教学设计】活动四：教师口令发声/停止，学生在绿灯时正常音量说“嗯”，红灯时立即安静；不喊叫，做两轮即可。随后提问“发声时和停止时，振动感觉有何不同？”学生将知识与行为对应，不让活动只剩纪律训练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【下一步衔接】本页发现要用于理解下一页：波动接力：人不走，变化向前走。先请孩子用一句话说出本页收获，再提出下一页问题。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【教师时间】19—23分钟，约4分钟。时间不显示在学生页。</a:t>
            </a:r>
          </a:p>
          <a:p>
            <a:r>
              <a:t>【教学设计】活动五：请5名学生保持间距站在原位，不接触别人，按顺序举手再放下。全班观察人没走、举手的变化向前传。随后讲这是帮助理解传播的类比，不是空气微粒的真实运动方向；真实空气声波微粒通常沿传播方向附近往返振动。本活动不把学生走动或物体传递当作声波。</a:t>
            </a:r>
          </a:p>
          <a:p>
            <a:r>
              <a:t>【混龄支持】低年级：观察人是否离开原位。 高年级：指出举手接力只是类比，实际空气微粒与图示人物不同。</a:t>
            </a:r>
          </a:p>
          <a:p>
            <a:r>
              <a:t>【下一步衔接】本页发现要用于理解下一页：声音怎样来到小兔耳朵？。先请孩子用一句话说出本页收获，再提出下一页问题。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【教师时间】23—25分钟，约2分钟。时间不显示在学生页。</a:t>
            </a:r>
          </a:p>
          <a:p>
            <a:r>
              <a:t>【教学设计】把接力类比还原科学路径：声源振动扰动周围空气，变化通过空气传播，到耳朵引起鼓膜响应。空气微粒不是从嘴一直跑到耳朵，箭头只表示传播关系，不是风或物体的搬运。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【下一步衔接】本页发现要用于理解下一页：声音还能经过哪里？。先请孩子用一句话说出本页收获，再提出下一页问题。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【教师时间】25—27分钟，约2分钟。时间不显示在学生页。</a:t>
            </a:r>
          </a:p>
          <a:p>
            <a:r>
              <a:t>【教学设计】让孩子先选空气、水、桌板。说明声音也可以在液体、固体中传播，介质不是只有空气。图标为概念示意，不增加当堂器材，不让学生把耳朵贴桌接受敲击。回扣我们今天说话主要通过空气到耳朵。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【下一步衔接】本页发现要用于理解下一页：耳朵挑战：哪一次更响？。先请孩子用一句话说出本页收获，再提出下一页问题。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【教师时间】27—30分钟，约3分钟。时间不显示在学生页。</a:t>
            </a:r>
          </a:p>
          <a:p>
            <a:r>
              <a:t>【教学设计】活动六：同一位教师在同一位置，用较轻和正常音量说同一句话，先让孩子指出哪次更响，再交换顺序比较。不能使劲喊，不让学生贴耳听。引出响度与振动幅度、距离等条件有关；本页不是精确测量。低年级举一或二，高年级说控制了哪些条件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【下一步衔接】本页发现要用于理解下一页：响度：声音听起来有多响。先请孩子用一句话说出本页收获，再提出下一页问题。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【教师时间】30—32分钟，约2分钟。时间不显示在学生页。</a:t>
            </a:r>
          </a:p>
          <a:p>
            <a:r>
              <a:t>【教学设计】将刚才的同句对比提升为响度概念。对同一声源、同样距离和相似条件，振动幅度较大通常更响；响度还受距离、环境和听觉等影响。图是大小变化的简化示意，不代表空气上下运动。先指小幅、大幅，再说响度。下一问：“更响”和“更高”是否同一个意思？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【下一步衔接】本页发现要用于理解下一页：听音高，做手势。先请孩子用一句话说出本页收获，再提出下一页问题。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【教师时间】32—35分钟，约3分钟。时间不显示在学生页。</a:t>
            </a:r>
          </a:p>
          <a:p>
            <a:r>
              <a:t>【教学设计】活动七：教师以舒适的音量哼较高与较低的音，学生用手放高/低的位置回应，不要求集体蹲跳，也不要求尖叫。图上箭头表示手势位置而非声波振幅。高音通常对应较快振动，低音较慢；与更响、更轻分开。每轮只给一个任务，回到“音高不等于音量大”。可由用户自行替换本页标题为高低音手势游戏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【下一步衔接】本页发现要用于理解下一页：音调：声音听起来有多高。先请孩子用一句话说出本页收获，再提出下一页问题。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【教师时间】35—37分钟，约2分钟。时间不显示在学生页。</a:t>
            </a:r>
          </a:p>
          <a:p>
            <a:r>
              <a:t>【教学设计】从上一页手势识别到知识：振动频率通常越高，音调越高；同样一段时间，振动次数更多是更快。两条图线幅度相同、周期不同，明示这不是响度变化，不是振幅越高音调越高。生活例子由教师轻哼，不要求学生尖叫。结论之后问：响度、音调相似，为什么仍可辨认说话者？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【下一步衔接】本页发现要用于理解下一页：闭上眼，猜猜是谁？。先请孩子用一句话说出本页收获，再提出下一页问题。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【教师时间】37—40分钟，约3分钟。时间不显示在学生页。</a:t>
            </a:r>
          </a:p>
          <a:p>
            <a:r>
              <a:t>【教学设计】活动八：自愿闭眼或看桌面，老师和一名自愿学生各说一句你好，其他人判断熟悉声音。禁止蒙眼、取笑嗓音。解释音色是声音的特色，不只由音调或响度决定。高级挑战同一句话、相似音量仍能区分人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【下一步衔接】本页发现要用于理解下一页：音色：声音自己的特色。先请孩子用一句话说出本页收获，再提出下一页问题。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【教师时间】40—41.5分钟，约1.5分钟。时间不显示在学生页。</a:t>
            </a:r>
          </a:p>
          <a:p>
            <a:r>
              <a:t>【教学设计】接住猜声音活动。音色是声音的特色，能帮助辨认声音来源；实际辨识也可能利用音调与语调等，不把认人实验称作只隔离了音色。学生不需要频谱术语。让孩子将响度、音调和音色用生活语言各说一句，再到下一页做对应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【下一步衔接】本页发现要用于理解下一页：给声音找朋友。先请孩子用一句话说出本页收获，再提出下一页问题。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【教师时间】41.5—43.5分钟，约2分钟。时间不显示在学生页。</a:t>
            </a:r>
          </a:p>
          <a:p>
            <a:r>
              <a:t>【教学设计】活动九：教师读三个生活描述，学生指出对应词。预期更响对应响度、更高对应音调、听出是谁对应音色。这是形成性评价，若混淆则用上一活动快速重述；不扩展不相关的声学术语。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【下一步衔接】本页发现要用于理解下一页：不大喊，也能让小兔听清吗？。先请孩子用一句话说出本页收获，再提出下一页问题。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【教师时间】43.5—46.5分钟，约3分钟。时间不显示在学生页。</a:t>
            </a:r>
          </a:p>
          <a:p>
            <a:r>
              <a:t>【教学设计】回到开头故事，知识开始迁移。讨论靠近、安静、朝向与号筒。非电子号筒可能改变传出方向、声源与空气耦合，某些位置更容易听到；不凭空增加能量，不承诺任意角度更响。下面号筒为概念示意，非本教具真实照片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【下一步衔接】本页发现要用于理解下一页：有电？没电？找不同！。先请孩子用一句话说出本页收获，再提出下一页问题。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【教师时间】46.5—50.5分钟，约4分钟。时间不显示在学生页。</a:t>
            </a:r>
          </a:p>
          <a:p>
            <a:r>
              <a:t>【教学设计】活动十：展示电子扩音器示意与真实套件照片，让孩子寻找电源、麦克风与电子电路。电子扩音器用电能驱动输出，纸杯套件没有电子音圈或放大电路，因此不能套用电子解释。实际听感由杯、筒、弹簧及空气等响应共同影响，具体效果需实物验证。</a:t>
            </a:r>
          </a:p>
          <a:p>
            <a:r>
              <a:t>【混龄支持】低年级：指出有没有电源。 高年级：说出为什么两类装置不能用同一套电子原理解释。</a:t>
            </a:r>
          </a:p>
          <a:p>
            <a:r>
              <a:t>【下一步衔接】本页发现要用于理解下一页：电子扩音器，为什么能扩音？。先请孩子用一句话说出本页收获，再提出下一页问题。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【教师时间】50.5—53分钟，约2.5分钟。时间不显示在学生页。</a:t>
            </a:r>
          </a:p>
          <a:p>
            <a:r>
              <a:t>【教学设计】从有电/没电分类补到工作原理。麦克风将声音信息转为电信号；放大电路使用电源提供的电能处理/放大信号；扬声器振动输出声音。图是功能流程，不是电路接线图。电源是能量来源，不能说声音凭空变大。然后回到纸杯套件：没有电源，它怎样影响听感？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【下一步衔接】本页发现要用于理解下一页：纸杯装置，可能怎样改变声音？。先请孩子用一句话说出本页收获，再提出下一页问题。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【教师时间】53—55分钟，约2分钟。时间不显示在学生页。</a:t>
            </a:r>
          </a:p>
          <a:p>
            <a:r>
              <a:t>【教学设计】结合真实成品写真看结构：纸杯、连接弹簧、筒内空气。它们的振动与共鸣等响应可能共同影响传递、方向和音色，具体作用与响度效果要实物验证；不把电子音圈解释套进来，也不把弹簧独立贡献说成已证实。上屏保留可能二字。解释共同作用后，下一页让孩子选择预测，给出依据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【下一步衔接】本页发现要用于理解下一页：先猜一猜，再去验证。先请孩子用一句话说出本页收获，再提出下一页问题。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【教师时间】55—57分钟，约2分钟。时间不显示在学生页。</a:t>
            </a:r>
          </a:p>
          <a:p>
            <a:r>
              <a:t>【教学设计】允许更响、更轻、音色改变、无明显变化或不确定。低年级做选择，高年级说明依据；“名称叫扩音器”不是足够证据。教师记下投票，测试后再对照，不预先宣布结果。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【下一步衔接】本页发现要用于理解下一页：怎样比，才公平？。先请孩子用一句话说出本页收获，再提出下一页问题。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【教师时间】57—60分钟，约3分钟。时间不显示在学生页。</a:t>
            </a:r>
          </a:p>
          <a:p>
            <a:r>
              <a:t>【教学设计】活动十一：让学生发现两种不公平演示：使用装置时故意说更大声，或听者更靠近。学生指出问题，再约定同一个人、同一句话、嘴与听者位置方向相同、同样正常音量和安静。人的音量不精确可控，所以先A后B再B后A。位置标记由教师安排，之后60分钟才发材料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【下一步衔接】本页发现要用于理解下一页：材料找朋友。先请孩子用一句话说出本页收获，再提出下一页问题。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【教师时间】60—63分钟，约3分钟。时间不显示在学生页。</a:t>
            </a:r>
          </a:p>
          <a:p>
            <a:r>
              <a:t>【教学设计】60分钟后进入后30分钟。按原图指认透明筒、弹簧、棉线、小杯与大杯。材料已预打孔、检查尺寸与锐边。两人一组轮流操作/检查，高年级提醒而不包办。多余工具不给学生。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【下一步衔接】本页发现要用于理解下一页：小工程师，先守安全约定。先请孩子用一句话说出本页收获，再提出下一页问题。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【教师时间】63—65分钟，约2分钟。时间不显示在学生页。</a:t>
            </a:r>
          </a:p>
          <a:p>
            <a:r>
              <a:t>【教学设计】教师课前预打孔、试装、检查弹簧端头和筒边缘；所有打孔与剪线只由教师做。细线不绕身、不猛拉、不入口。卡住/破损举手，教师处理。声音装置不贴耳试音。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【下一步衔接】本页发现要用于理解下一页：第1步：固定大纸杯。先请孩子用一句话说出本页收获，再提出下一页问题。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【教师时间】65—70分钟，约5分钟。时间不显示在学生页。</a:t>
            </a:r>
          </a:p>
          <a:p>
            <a:r>
              <a:t>【教学设计】使用老师预打孔的小孔。学生不硬推、不用弹簧刺穿杯底。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【下一步衔接】本页发现要用于理解下一页：第2步：系好棉线。先请孩子用一句话说出本页收获，再提出下一页问题。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【教师时间】70—74分钟，约4分钟。时间不显示在学生页。</a:t>
            </a:r>
          </a:p>
          <a:p>
            <a:r>
              <a:t>【教学设计】棉线系在弹簧另一端，不拉长弹簧。低年级打结困难请老师协助。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【下一步衔接】本页发现要用于理解下一页：第3步：套筒、穿线。先请孩子用一句话说出本页收获，再提出下一页问题。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【教师时间】74—78分钟，约4分钟。时间不显示在学生页。</a:t>
            </a:r>
          </a:p>
          <a:p>
            <a:r>
              <a:t>【教学设计】透明筒套在大杯底，棉线穿过小杯底孔，保持零件方向。不能自行钻孔、扩孔。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【下一步衔接】本页发现要用于理解下一页：第4步：固定小纸杯。先请孩子用一句话说出本页收获，再提出下一页问题。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【教师时间】78—82分钟，约4分钟。时间不显示在学生页。</a:t>
            </a:r>
          </a:p>
          <a:p>
            <a:r>
              <a:t>【教学设计】借棉线缓慢引导弹簧穿过小杯孔，旋转卡住。多余线由老师剪。检查两端、危险端头与破损。进度慢的小组借备用成品参与比较。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【下一步衔接】本页发现要用于理解下一页：试一试：小兔现在听到了什么？。先请孩子用一句话说出本页收获，再提出下一页问题。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【教师时间】82—86分钟，约4分钟。时间不显示在学生页。</a:t>
            </a:r>
          </a:p>
          <a:p>
            <a:r>
              <a:t>【教学设计】先完成老师安全检查，再分组试音。A直接说、B对大杯口说“你好，小兔”；第一轮A→B、第二轮B→A，同人同句固定位置正常音量。听者不贴耳，其他小组安静。口头/手势分别记录响度、音色、清晰度，允许无变化与两次不一致。不把主观听感称精确测量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【下一步衔接】本页发现要用于理解下一页：回到最初的问题：你发现了什么？。先请孩子用一句话说出本页收获，再提出下一页问题。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【教师时间】86—88分钟，约2分钟。时间不显示在学生页。</a:t>
            </a:r>
          </a:p>
          <a:p>
            <a:r>
              <a:t>【教学设计】回扣故事及最初预测，邀请少量学生分享，其余同桌口述。低年级说“我听到……”，高年级说控制了哪些条件和两次观察。引导不确定性：整体对比不能证明弹簧单独作用，装置不是电子扩音器，听起来不同不一定更响。</a:t>
            </a:r>
          </a:p>
          <a:p>
            <a:r>
              <a:t>【混龄支持】低年级：允许手势、口述与简单观察回答。 高年级：补充理由，区分观察与解释。</a:t>
            </a:r>
          </a:p>
          <a:p>
            <a:r>
              <a:t>【下一步衔接】本页发现要用于理解下一页：把发现带回家，把桌面整理好。先请孩子用一句话说出本页收获，再提出下一页问题。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【教师时间】88—90分钟，约2分钟。时间不显示在学生页。</a:t>
            </a:r>
          </a:p>
          <a:p>
            <a:r>
              <a:t>【教学设计】清点材料、收好棉线和损坏件，不猛拉拆卸弹簧，清理垃圾、洗手。课后分享知识与证据，不要求独自使用尖锐工具重做。结束故事但不宣布小兔一定听得更响，真实观察才是结论。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502920"/>
            <a:ext cx="932688" cy="932688"/>
          </a:xfrm>
          <a:prstGeom prst="ellipse">
            <a:avLst/>
          </a:prstGeom>
          <a:solidFill>
            <a:srgbClr val="FFD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137160" y="1463040"/>
            <a:ext cx="2148840" cy="749808"/>
          </a:xfrm>
          <a:prstGeom prst="cloud">
            <a:avLst/>
          </a:prstGeom>
          <a:solidFill>
            <a:srgbClr val="E8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7772400" y="1417320"/>
            <a:ext cx="1600200" cy="530352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230368"/>
            <a:ext cx="6949440" cy="1554480"/>
          </a:xfrm>
          <a:prstGeom prst="ellipse">
            <a:avLst/>
          </a:prstGeom>
          <a:solidFill>
            <a:srgbClr val="DEE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0" y="5230368"/>
            <a:ext cx="6035040" cy="1554480"/>
          </a:xfrm>
          <a:prstGeom prst="ellipse">
            <a:avLst/>
          </a:prstGeom>
          <a:solidFill>
            <a:srgbClr val="CBE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4297680"/>
            <a:ext cx="95097" cy="861822"/>
          </a:xfrm>
          <a:prstGeom prst="rect">
            <a:avLst/>
          </a:prstGeom>
          <a:solidFill>
            <a:srgbClr val="BB8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0140" y="3429000"/>
            <a:ext cx="725119" cy="903427"/>
          </a:xfrm>
          <a:prstGeom prst="ellipse">
            <a:avLst/>
          </a:prstGeom>
          <a:solidFill>
            <a:srgbClr val="A7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24160" y="4297680"/>
            <a:ext cx="124358" cy="1126998"/>
          </a:xfrm>
          <a:prstGeom prst="rect">
            <a:avLst/>
          </a:prstGeom>
          <a:solidFill>
            <a:srgbClr val="BB8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35540" y="3429000"/>
            <a:ext cx="948232" cy="1181404"/>
          </a:xfrm>
          <a:prstGeom prst="ellipse">
            <a:avLst/>
          </a:prstGeom>
          <a:solidFill>
            <a:srgbClr val="A7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822960"/>
            <a:ext cx="841248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6800" b="1">
                <a:solidFill>
                  <a:srgbClr val="187F7B"/>
                </a:solidFill>
                <a:latin typeface="Noto Sans CJK SC"/>
              </a:defRPr>
            </a:pPr>
            <a:r>
              <a:t>DIY扩音器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86000"/>
            <a:ext cx="786384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E77638"/>
                </a:solidFill>
                <a:latin typeface="Noto Sans CJK SC"/>
              </a:defRPr>
            </a:pPr>
            <a:r>
              <a:t>帮小兔听清楚！</a:t>
            </a:r>
          </a:p>
        </p:txBody>
      </p:sp>
      <p:sp>
        <p:nvSpPr>
          <p:cNvPr id="13" name="Oval 12"/>
          <p:cNvSpPr/>
          <p:nvPr/>
        </p:nvSpPr>
        <p:spPr>
          <a:xfrm>
            <a:off x="1630375" y="5174132"/>
            <a:ext cx="753465" cy="988923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07107" y="5192969"/>
            <a:ext cx="348477" cy="423824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745053" y="3855567"/>
            <a:ext cx="612190" cy="678119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394917" y="3855567"/>
            <a:ext cx="612190" cy="678119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8543" y="4288810"/>
            <a:ext cx="1412748" cy="1224381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5746" y="4769144"/>
            <a:ext cx="1036015" cy="61219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8184" y="4674961"/>
            <a:ext cx="94183" cy="13185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58630" y="4674961"/>
            <a:ext cx="94183" cy="13185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57243" y="4957511"/>
            <a:ext cx="131856" cy="103601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423172" y="5061112"/>
            <a:ext cx="0" cy="122438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24001" y="5381335"/>
            <a:ext cx="941832" cy="988923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451" y="5550865"/>
            <a:ext cx="395569" cy="423824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1563" y="6219565"/>
            <a:ext cx="423824" cy="226039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83283" y="6219565"/>
            <a:ext cx="423824" cy="226039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46259" y="3255264"/>
            <a:ext cx="460857" cy="11713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89539" y="3207258"/>
            <a:ext cx="460857" cy="12289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1473" y="3447288"/>
            <a:ext cx="220827" cy="748893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04754" y="3399282"/>
            <a:ext cx="220827" cy="76809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07854" y="4071366"/>
            <a:ext cx="1296162" cy="11041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05491" y="4503420"/>
            <a:ext cx="96012" cy="1344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71962" y="4503420"/>
            <a:ext cx="96012" cy="1344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80676" y="4772253"/>
            <a:ext cx="220827" cy="11521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91164" y="4772253"/>
            <a:ext cx="220827" cy="11521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383926" y="4753051"/>
            <a:ext cx="124815" cy="9601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H="1">
            <a:off x="10374325" y="4858664"/>
            <a:ext cx="67208" cy="96012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441533" y="4858664"/>
            <a:ext cx="67209" cy="96012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0028682" y="5098694"/>
            <a:ext cx="902512" cy="1094536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49509" y="5271516"/>
            <a:ext cx="460857" cy="633679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884664" y="5982004"/>
            <a:ext cx="460857" cy="2304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62361" y="5982004"/>
            <a:ext cx="460857" cy="2304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863986" y="4695444"/>
            <a:ext cx="259232" cy="8833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310" y="3291840"/>
            <a:ext cx="4353499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小兔为什么没听清？</a:t>
            </a:r>
          </a:p>
        </p:txBody>
      </p:sp>
      <p:sp>
        <p:nvSpPr>
          <p:cNvPr id="3" name="Oval 2"/>
          <p:cNvSpPr/>
          <p:nvPr/>
        </p:nvSpPr>
        <p:spPr>
          <a:xfrm>
            <a:off x="9875520" y="502920"/>
            <a:ext cx="932688" cy="932688"/>
          </a:xfrm>
          <a:prstGeom prst="ellipse">
            <a:avLst/>
          </a:prstGeom>
          <a:solidFill>
            <a:srgbClr val="FFD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137160" y="1463040"/>
            <a:ext cx="2148840" cy="749808"/>
          </a:xfrm>
          <a:prstGeom prst="cloud">
            <a:avLst/>
          </a:prstGeom>
          <a:solidFill>
            <a:srgbClr val="E8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7772400" y="1417320"/>
            <a:ext cx="1600200" cy="530352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5230368"/>
            <a:ext cx="6949440" cy="1554480"/>
          </a:xfrm>
          <a:prstGeom prst="ellipse">
            <a:avLst/>
          </a:prstGeom>
          <a:solidFill>
            <a:srgbClr val="DEE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35040" y="5230368"/>
            <a:ext cx="6035040" cy="1554480"/>
          </a:xfrm>
          <a:prstGeom prst="ellipse">
            <a:avLst/>
          </a:prstGeom>
          <a:solidFill>
            <a:srgbClr val="CBE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4297680"/>
            <a:ext cx="95097" cy="861822"/>
          </a:xfrm>
          <a:prstGeom prst="rect">
            <a:avLst/>
          </a:prstGeom>
          <a:solidFill>
            <a:srgbClr val="BB8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" y="3429000"/>
            <a:ext cx="725119" cy="903427"/>
          </a:xfrm>
          <a:prstGeom prst="ellipse">
            <a:avLst/>
          </a:prstGeom>
          <a:solidFill>
            <a:srgbClr val="A7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24160" y="4297680"/>
            <a:ext cx="124358" cy="1126998"/>
          </a:xfrm>
          <a:prstGeom prst="rect">
            <a:avLst/>
          </a:prstGeom>
          <a:solidFill>
            <a:srgbClr val="BB8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35540" y="3429000"/>
            <a:ext cx="948232" cy="1181404"/>
          </a:xfrm>
          <a:prstGeom prst="ellipse">
            <a:avLst/>
          </a:prstGeom>
          <a:solidFill>
            <a:srgbClr val="A7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20240" y="4846320"/>
            <a:ext cx="731520" cy="96012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0" y="4864608"/>
            <a:ext cx="338328" cy="41148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1060704" y="3566160"/>
            <a:ext cx="594360" cy="658368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691640" y="3566160"/>
            <a:ext cx="594360" cy="658368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3986784"/>
            <a:ext cx="1371600" cy="118872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07008" y="4453128"/>
            <a:ext cx="1005840" cy="59436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25880" y="4361688"/>
            <a:ext cx="91440" cy="1280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47672" y="4361688"/>
            <a:ext cx="91440" cy="1280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55064" y="4636008"/>
            <a:ext cx="128016" cy="100584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719072" y="4736592"/>
            <a:ext cx="0" cy="118872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234440" y="5047488"/>
            <a:ext cx="914400" cy="960120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5212080"/>
            <a:ext cx="384048" cy="41148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5568" y="5861304"/>
            <a:ext cx="411480" cy="2194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74519" y="5861304"/>
            <a:ext cx="411480" cy="2194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87814" y="2944368"/>
            <a:ext cx="482803" cy="12271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61727" y="2894076"/>
            <a:ext cx="482803" cy="12874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8515" y="3145536"/>
            <a:ext cx="231343" cy="78455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82428" y="3095244"/>
            <a:ext cx="231343" cy="80467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47580" y="3799332"/>
            <a:ext cx="1357884" cy="11567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59391" y="425196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2836" y="425196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28632" y="453359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72953" y="453359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51084" y="4513478"/>
            <a:ext cx="130759" cy="10058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10041026" y="462412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111435" y="462412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678924" y="4875580"/>
            <a:ext cx="945489" cy="1146657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10267" y="5056631"/>
            <a:ext cx="482803" cy="66385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528048" y="580095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42778" y="580095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554004" y="4453128"/>
            <a:ext cx="271576" cy="9253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ular Callout 42"/>
          <p:cNvSpPr/>
          <p:nvPr/>
        </p:nvSpPr>
        <p:spPr>
          <a:xfrm>
            <a:off x="1920240" y="1691640"/>
            <a:ext cx="5166360" cy="123444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94560" y="1965960"/>
            <a:ext cx="46177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700" b="0">
                <a:solidFill>
                  <a:srgbClr val="234747"/>
                </a:solidFill>
                <a:latin typeface="Noto Sans CJK SC"/>
              </a:defRPr>
            </a:pPr>
            <a:r>
              <a:t>“来一起玩吧！”</a:t>
            </a:r>
          </a:p>
        </p:txBody>
      </p:sp>
      <p:sp>
        <p:nvSpPr>
          <p:cNvPr id="45" name="Rounded Rectangular Callout 44"/>
          <p:cNvSpPr/>
          <p:nvPr/>
        </p:nvSpPr>
        <p:spPr>
          <a:xfrm>
            <a:off x="7863840" y="1645920"/>
            <a:ext cx="3383280" cy="132588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1920240"/>
            <a:ext cx="28346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0">
                <a:solidFill>
                  <a:srgbClr val="234747"/>
                </a:solidFill>
                <a:latin typeface="Noto Sans CJK SC"/>
              </a:defRPr>
            </a:pPr>
            <a:r>
              <a:t>听不清！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794760" y="4315968"/>
            <a:ext cx="4251960" cy="0"/>
          </a:xfrm>
          <a:prstGeom prst="line">
            <a:avLst/>
          </a:prstGeom>
          <a:ln w="508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你来帮它选办法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03120"/>
            <a:ext cx="3063240" cy="1645920"/>
          </a:xfrm>
          <a:prstGeom prst="roundRect">
            <a:avLst>
              <a:gd name="adj" fmla="val 16000"/>
            </a:avLst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468879"/>
            <a:ext cx="25146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靠近一些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03120"/>
            <a:ext cx="3063240" cy="1645920"/>
          </a:xfrm>
          <a:prstGeom prst="roundRect">
            <a:avLst>
              <a:gd name="adj" fmla="val 16000"/>
            </a:avLst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468879"/>
            <a:ext cx="25146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安静一些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103120"/>
            <a:ext cx="3063240" cy="1645920"/>
          </a:xfrm>
          <a:prstGeom prst="roundRect">
            <a:avLst>
              <a:gd name="adj" fmla="val 16000"/>
            </a:avLst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468879"/>
            <a:ext cx="25146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使劲大喊？</a:t>
            </a:r>
          </a:p>
        </p:txBody>
      </p:sp>
      <p:sp>
        <p:nvSpPr>
          <p:cNvPr id="9" name="Oval 8"/>
          <p:cNvSpPr/>
          <p:nvPr/>
        </p:nvSpPr>
        <p:spPr>
          <a:xfrm>
            <a:off x="1248338" y="4017873"/>
            <a:ext cx="316016" cy="8032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89445" y="3984955"/>
            <a:ext cx="316016" cy="8427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7343" y="4149547"/>
            <a:ext cx="151424" cy="51352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449" y="4116628"/>
            <a:ext cx="151424" cy="52669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22004" y="4577486"/>
            <a:ext cx="888796" cy="7571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26098" y="4873752"/>
            <a:ext cx="65836" cy="92171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14535" y="4873752"/>
            <a:ext cx="65836" cy="92171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40510" y="5058095"/>
            <a:ext cx="151424" cy="7900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27702" y="5058095"/>
            <a:ext cx="151424" cy="7900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17024" y="5044927"/>
            <a:ext cx="85587" cy="6583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610441" y="5117348"/>
            <a:ext cx="46086" cy="6583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56527" y="5117348"/>
            <a:ext cx="46085" cy="6583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373428" y="5281940"/>
            <a:ext cx="618865" cy="750539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24853" y="5400446"/>
            <a:ext cx="316016" cy="434522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74673" y="5887638"/>
            <a:ext cx="316016" cy="158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07951" y="5887638"/>
            <a:ext cx="316016" cy="158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82502" y="5433364"/>
            <a:ext cx="250179" cy="36210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617720"/>
            <a:ext cx="676656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400" b="0">
                <a:solidFill>
                  <a:srgbClr val="234747"/>
                </a:solidFill>
                <a:latin typeface="Noto Sans CJK SC"/>
              </a:defRPr>
            </a:pPr>
            <a:r>
              <a:t>选一选，说说为什么。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声音侦探，出动！</a:t>
            </a:r>
          </a:p>
        </p:txBody>
      </p:sp>
      <p:sp>
        <p:nvSpPr>
          <p:cNvPr id="3" name="Oval 2"/>
          <p:cNvSpPr/>
          <p:nvPr/>
        </p:nvSpPr>
        <p:spPr>
          <a:xfrm>
            <a:off x="1879092" y="4112514"/>
            <a:ext cx="768096" cy="100812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63140" y="4131716"/>
            <a:ext cx="355244" cy="432054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976579" y="2768346"/>
            <a:ext cx="624078" cy="691286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639062" y="2768346"/>
            <a:ext cx="624078" cy="691286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8972" y="3210001"/>
            <a:ext cx="1440180" cy="12481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0198" y="3699662"/>
            <a:ext cx="1056132" cy="624078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55014" y="3603650"/>
            <a:ext cx="96012" cy="1344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07895" y="3603650"/>
            <a:ext cx="96012" cy="1344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657" y="3891686"/>
            <a:ext cx="134416" cy="1056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667865" y="3997299"/>
            <a:ext cx="0" cy="12481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159002" y="4323740"/>
            <a:ext cx="960120" cy="1008126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0966" y="4496562"/>
            <a:ext cx="403250" cy="432054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4186" y="5178247"/>
            <a:ext cx="432054" cy="230428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31086" y="5178247"/>
            <a:ext cx="432054" cy="230428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12249" y="2176272"/>
            <a:ext cx="504748" cy="1282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16794" y="2123694"/>
            <a:ext cx="504748" cy="13459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38436" y="2386584"/>
            <a:ext cx="241858" cy="82021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42982" y="2334006"/>
            <a:ext cx="241858" cy="841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70187" y="3070098"/>
            <a:ext cx="141960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96170" y="3543300"/>
            <a:ext cx="105155" cy="147218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16591" y="3543300"/>
            <a:ext cx="105155" cy="147218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59468" y="3837736"/>
            <a:ext cx="241858" cy="12618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37622" y="3837736"/>
            <a:ext cx="241858" cy="12618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01123" y="3816705"/>
            <a:ext cx="136702" cy="10515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9890607" y="3932377"/>
            <a:ext cx="73609" cy="10515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64216" y="3932377"/>
            <a:ext cx="73610" cy="10515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512046" y="4195267"/>
            <a:ext cx="988466" cy="119877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53904" y="4384548"/>
            <a:ext cx="504748" cy="694029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54312" y="5162702"/>
            <a:ext cx="504748" cy="2523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06075" y="5162702"/>
            <a:ext cx="504748" cy="2523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26903" y="3753611"/>
            <a:ext cx="283921" cy="96743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ular Callout 33"/>
          <p:cNvSpPr/>
          <p:nvPr/>
        </p:nvSpPr>
        <p:spPr>
          <a:xfrm>
            <a:off x="3108960" y="2011680"/>
            <a:ext cx="5303520" cy="228600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79" y="2286000"/>
            <a:ext cx="475488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600" b="0">
                <a:solidFill>
                  <a:srgbClr val="234747"/>
                </a:solidFill>
                <a:latin typeface="Noto Sans CJK SC"/>
              </a:defRPr>
            </a:pPr>
            <a:r>
              <a:t>安静听一听。</a:t>
            </a:r>
          </a:p>
          <a:p>
            <a:pPr>
              <a:spcAft>
                <a:spcPts val="800"/>
              </a:spcAft>
              <a:defRPr sz="3600" b="0">
                <a:solidFill>
                  <a:srgbClr val="234747"/>
                </a:solidFill>
                <a:latin typeface="Noto Sans CJK SC"/>
              </a:defRPr>
            </a:pPr>
            <a:r>
              <a:t>谁正在发出声音？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发声的物体，叫“声源”</a:t>
            </a:r>
          </a:p>
        </p:txBody>
      </p:sp>
      <p:sp>
        <p:nvSpPr>
          <p:cNvPr id="3" name="Oval 2"/>
          <p:cNvSpPr/>
          <p:nvPr/>
        </p:nvSpPr>
        <p:spPr>
          <a:xfrm>
            <a:off x="1995220" y="4420209"/>
            <a:ext cx="819302" cy="1075334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04872" y="4440692"/>
            <a:ext cx="378927" cy="460857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032540" y="2986430"/>
            <a:ext cx="665683" cy="737372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739188" y="2986430"/>
            <a:ext cx="665683" cy="737372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1092" y="3457529"/>
            <a:ext cx="1536192" cy="133136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6400" y="3979834"/>
            <a:ext cx="1126540" cy="665683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9537" y="3877421"/>
            <a:ext cx="102412" cy="14337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5944" y="3877421"/>
            <a:ext cx="102412" cy="14337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98223" y="4184660"/>
            <a:ext cx="143377" cy="112654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769912" y="4297314"/>
            <a:ext cx="0" cy="13313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227124" y="4645517"/>
            <a:ext cx="1024128" cy="1075334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9886" y="4829860"/>
            <a:ext cx="430133" cy="460857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3988" y="5556991"/>
            <a:ext cx="460857" cy="24579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44014" y="5556991"/>
            <a:ext cx="460857" cy="24579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ular Callout 16"/>
          <p:cNvSpPr/>
          <p:nvPr/>
        </p:nvSpPr>
        <p:spPr>
          <a:xfrm>
            <a:off x="3749039" y="1938528"/>
            <a:ext cx="6583680" cy="246888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2212848"/>
            <a:ext cx="603504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0">
                <a:solidFill>
                  <a:srgbClr val="234747"/>
                </a:solidFill>
                <a:latin typeface="Noto Sans CJK SC"/>
              </a:defRPr>
            </a:pPr>
            <a:r>
              <a:t>声源，是发出声音的物体。</a:t>
            </a:r>
          </a:p>
          <a:p>
            <a:pPr>
              <a:spcAft>
                <a:spcPts val="800"/>
              </a:spcAft>
              <a:defRPr sz="3200" b="0">
                <a:solidFill>
                  <a:srgbClr val="234747"/>
                </a:solidFill>
                <a:latin typeface="Noto Sans CJK SC"/>
              </a:defRPr>
            </a:pPr>
            <a:r>
              <a:t>说话时，声带在发声。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047488"/>
            <a:ext cx="667512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87F7B"/>
                </a:solidFill>
                <a:latin typeface="Noto Sans CJK SC"/>
              </a:defRPr>
            </a:pPr>
            <a:r>
              <a:t>它发声时，哪里在动？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说“啊——”，摸到什么？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920240"/>
            <a:ext cx="630936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8600" b="1">
                <a:solidFill>
                  <a:srgbClr val="187F7B"/>
                </a:solidFill>
                <a:latin typeface="Noto Sans CJK SC"/>
              </a:defRPr>
            </a:pPr>
            <a:r>
              <a:t>啊——</a:t>
            </a:r>
          </a:p>
        </p:txBody>
      </p:sp>
      <p:sp>
        <p:nvSpPr>
          <p:cNvPr id="4" name="Oval 3"/>
          <p:cNvSpPr/>
          <p:nvPr/>
        </p:nvSpPr>
        <p:spPr>
          <a:xfrm>
            <a:off x="8956730" y="2051913"/>
            <a:ext cx="535472" cy="13609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04161" y="1996135"/>
            <a:ext cx="535472" cy="14279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0599" y="2275027"/>
            <a:ext cx="256580" cy="870143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38029" y="2219248"/>
            <a:ext cx="256580" cy="89245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12108" y="3000146"/>
            <a:ext cx="1506016" cy="1282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57934" y="3502152"/>
            <a:ext cx="111556" cy="156179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16119" y="3502152"/>
            <a:ext cx="111556" cy="156179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12910" y="3814511"/>
            <a:ext cx="256580" cy="1338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38430" y="3814511"/>
            <a:ext cx="256580" cy="1338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1448" y="3792199"/>
            <a:ext cx="145023" cy="11155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9570293" y="3914912"/>
            <a:ext cx="78090" cy="11155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48383" y="3914912"/>
            <a:ext cx="78089" cy="11155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68688" y="4193804"/>
            <a:ext cx="1048633" cy="1271747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25269" y="4394606"/>
            <a:ext cx="535472" cy="73627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01353" y="5220126"/>
            <a:ext cx="535472" cy="2677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04963" y="5220126"/>
            <a:ext cx="535472" cy="2677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45174" y="4450384"/>
            <a:ext cx="423915" cy="61356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114800"/>
            <a:ext cx="713232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600" b="0">
                <a:solidFill>
                  <a:srgbClr val="234747"/>
                </a:solidFill>
                <a:latin typeface="Noto Sans CJK SC"/>
              </a:defRPr>
            </a:pPr>
            <a:r>
              <a:t>轻轻碰。</a:t>
            </a:r>
          </a:p>
          <a:p>
            <a:pPr>
              <a:spcAft>
                <a:spcPts val="800"/>
              </a:spcAft>
              <a:defRPr sz="3600" b="0">
                <a:solidFill>
                  <a:srgbClr val="234747"/>
                </a:solidFill>
                <a:latin typeface="Noto Sans CJK SC"/>
              </a:defRPr>
            </a:pPr>
            <a:r>
              <a:t>说一说，再停下。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声音，来自振动！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2240280"/>
            <a:ext cx="2834640" cy="100584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734056"/>
            <a:ext cx="2834640" cy="1371600"/>
          </a:xfrm>
          <a:prstGeom prst="rect">
            <a:avLst/>
          </a:prstGeom>
          <a:solidFill>
            <a:srgbClr val="F3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3657600"/>
            <a:ext cx="2834640" cy="100584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194560"/>
            <a:ext cx="2834640" cy="987552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1554480"/>
            <a:ext cx="1097280" cy="548640"/>
          </a:xfrm>
          <a:prstGeom prst="line">
            <a:avLst/>
          </a:prstGeom>
          <a:ln w="762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383280" y="1508760"/>
            <a:ext cx="1005840" cy="594360"/>
          </a:xfrm>
          <a:prstGeom prst="line">
            <a:avLst/>
          </a:prstGeom>
          <a:ln w="762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0" y="2468880"/>
            <a:ext cx="566928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187F7B"/>
                </a:solidFill>
                <a:latin typeface="Noto Sans CJK SC"/>
              </a:defRPr>
            </a:pPr>
            <a:r>
              <a:t>来回动，</a:t>
            </a:r>
          </a:p>
          <a:p>
            <a:pPr>
              <a:spcAft>
                <a:spcPts val="800"/>
              </a:spcAft>
              <a:defRPr sz="4400" b="1">
                <a:solidFill>
                  <a:srgbClr val="187F7B"/>
                </a:solidFill>
                <a:latin typeface="Noto Sans CJK SC"/>
              </a:defRPr>
            </a:pPr>
            <a:r>
              <a:t>叫“振动”。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983480"/>
            <a:ext cx="93268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0">
                <a:solidFill>
                  <a:srgbClr val="234747"/>
                </a:solidFill>
                <a:latin typeface="Noto Sans CJK SC"/>
              </a:defRPr>
            </a:pPr>
            <a:r>
              <a:t>有些振动，眼睛不容易看见。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声音红绿灯</a:t>
            </a:r>
          </a:p>
        </p:txBody>
      </p:sp>
      <p:sp>
        <p:nvSpPr>
          <p:cNvPr id="3" name="Oval 2"/>
          <p:cNvSpPr/>
          <p:nvPr/>
        </p:nvSpPr>
        <p:spPr>
          <a:xfrm>
            <a:off x="1554480" y="2240280"/>
            <a:ext cx="2926080" cy="2926080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3218688"/>
            <a:ext cx="2011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Noto Sans CJK SC"/>
              </a:defRPr>
            </a:pPr>
            <a:r>
              <a:t>嗯——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2240280"/>
            <a:ext cx="2926080" cy="2926080"/>
          </a:xfrm>
          <a:prstGeom prst="ellipse">
            <a:avLst/>
          </a:prstGeom>
          <a:solidFill>
            <a:srgbClr val="CE6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11312" y="3218688"/>
            <a:ext cx="173736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FFFFF"/>
                </a:solidFill>
                <a:latin typeface="Noto Sans CJK SC"/>
              </a:defRPr>
            </a:pPr>
            <a:r>
              <a:t>停！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532120"/>
            <a:ext cx="7498079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0">
                <a:solidFill>
                  <a:srgbClr val="234747"/>
                </a:solidFill>
                <a:latin typeface="Noto Sans CJK SC"/>
              </a:defRPr>
            </a:pPr>
            <a:r>
              <a:t>振动产生声音。声音怎样传过去？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波动接力：人不走，变化向前走</a:t>
            </a:r>
          </a:p>
        </p:txBody>
      </p:sp>
      <p:sp>
        <p:nvSpPr>
          <p:cNvPr id="3" name="Oval 2"/>
          <p:cNvSpPr/>
          <p:nvPr/>
        </p:nvSpPr>
        <p:spPr>
          <a:xfrm>
            <a:off x="947318" y="235000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68069" y="231114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587" y="250545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1338" y="246659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6228" y="301066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744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6132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31289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82572" y="356250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1374800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29207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4994" y="384230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73759" y="3982211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408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07972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9594" y="4021074"/>
            <a:ext cx="295351" cy="4274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96158" y="235000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16909" y="231114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89427" y="250545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10178" y="246659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65068" y="301066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06013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64584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204972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80129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31412" y="356250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3523640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78047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243834" y="384230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422599" y="3982211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27248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56812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920032" y="3515868"/>
            <a:ext cx="209854" cy="715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4998" y="235000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65749" y="231114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38267" y="250545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59018" y="246659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13908" y="301066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454853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13424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53812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8969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680252" y="356250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>
            <a:off x="5672480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726887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5392674" y="384230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571439" y="3982211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76088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05652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068872" y="3515868"/>
            <a:ext cx="209854" cy="715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93838" y="235000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914589" y="231114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87107" y="250545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07858" y="246659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362748" y="301066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03693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62264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02652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77809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829092" y="356250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H="1">
            <a:off x="7821320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875727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7541514" y="384230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720279" y="3982211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424928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054492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316114" y="4021074"/>
            <a:ext cx="295351" cy="4274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542678" y="235000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063429" y="231114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635947" y="250545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156698" y="246659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11588" y="301066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752533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211104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51492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226649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77932" y="356250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H="1">
            <a:off x="9970160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024567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9690354" y="384230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869119" y="3982211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573768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203332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464954" y="4021074"/>
            <a:ext cx="295351" cy="4274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ight Arrow 87"/>
          <p:cNvSpPr/>
          <p:nvPr/>
        </p:nvSpPr>
        <p:spPr>
          <a:xfrm>
            <a:off x="2057400" y="3108960"/>
            <a:ext cx="594360" cy="384048"/>
          </a:xfrm>
          <a:prstGeom prst="rightArrow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ight Arrow 88"/>
          <p:cNvSpPr/>
          <p:nvPr/>
        </p:nvSpPr>
        <p:spPr>
          <a:xfrm>
            <a:off x="4206240" y="3108960"/>
            <a:ext cx="594360" cy="384048"/>
          </a:xfrm>
          <a:prstGeom prst="rightArrow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ight Arrow 89"/>
          <p:cNvSpPr/>
          <p:nvPr/>
        </p:nvSpPr>
        <p:spPr>
          <a:xfrm>
            <a:off x="6355080" y="3108960"/>
            <a:ext cx="594360" cy="384048"/>
          </a:xfrm>
          <a:prstGeom prst="rightArrow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ight Arrow 90"/>
          <p:cNvSpPr/>
          <p:nvPr/>
        </p:nvSpPr>
        <p:spPr>
          <a:xfrm>
            <a:off x="8503920" y="3108960"/>
            <a:ext cx="594360" cy="384048"/>
          </a:xfrm>
          <a:prstGeom prst="rightArrow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920240" y="5650992"/>
            <a:ext cx="905256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87F7B"/>
                </a:solidFill>
                <a:latin typeface="Noto Sans CJK SC"/>
              </a:defRPr>
            </a:pPr>
            <a:r>
              <a:t>人留在原地，变化传向前方。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声音怎样来到小兔耳朵？</a:t>
            </a:r>
          </a:p>
        </p:txBody>
      </p:sp>
      <p:sp>
        <p:nvSpPr>
          <p:cNvPr id="3" name="Oval 2"/>
          <p:cNvSpPr/>
          <p:nvPr/>
        </p:nvSpPr>
        <p:spPr>
          <a:xfrm>
            <a:off x="1453896" y="4073652"/>
            <a:ext cx="658368" cy="864108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83080" y="4090111"/>
            <a:ext cx="304495" cy="370332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680313" y="2921508"/>
            <a:ext cx="534924" cy="592531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248156" y="2921508"/>
            <a:ext cx="534924" cy="592531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" y="3300069"/>
            <a:ext cx="1234440" cy="1069848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1987" y="3719779"/>
            <a:ext cx="905256" cy="534924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8971" y="3637483"/>
            <a:ext cx="82296" cy="115214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8584" y="3637483"/>
            <a:ext cx="82296" cy="115214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15237" y="3884371"/>
            <a:ext cx="115214" cy="90525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272844" y="3974896"/>
            <a:ext cx="0" cy="106985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36676" y="4254703"/>
            <a:ext cx="822960" cy="864108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9788" y="4402836"/>
            <a:ext cx="345643" cy="370332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9691" y="4987137"/>
            <a:ext cx="370332" cy="19751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12748" y="4987137"/>
            <a:ext cx="370332" cy="19751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13045" y="2503627"/>
            <a:ext cx="412577" cy="104863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88934" y="2460650"/>
            <a:ext cx="412577" cy="110020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16190" y="2675534"/>
            <a:ext cx="197693" cy="67043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92079" y="2632557"/>
            <a:ext cx="197693" cy="68762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78664" y="3234232"/>
            <a:ext cx="1160373" cy="98846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5120" y="3621024"/>
            <a:ext cx="85953" cy="120335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52246" y="3621024"/>
            <a:ext cx="85953" cy="120335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33380" y="3861694"/>
            <a:ext cx="197693" cy="10314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69437" y="3861694"/>
            <a:ext cx="197693" cy="10314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94385" y="3844503"/>
            <a:ext cx="111739" cy="85953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10485790" y="3939052"/>
            <a:ext cx="60168" cy="85953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545958" y="3939052"/>
            <a:ext cx="60167" cy="85953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176357" y="4153936"/>
            <a:ext cx="807963" cy="979871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74050" y="4308652"/>
            <a:ext cx="412577" cy="567293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47427" y="4944709"/>
            <a:ext cx="412577" cy="2062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43651" y="4944709"/>
            <a:ext cx="412577" cy="2062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27092" y="4351629"/>
            <a:ext cx="326623" cy="472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880360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38728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197096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55464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13831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72200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30568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88936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3063240" y="4114800"/>
            <a:ext cx="5852160" cy="320040"/>
          </a:xfrm>
          <a:prstGeom prst="rightArrow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486400"/>
            <a:ext cx="283464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7F7B"/>
                </a:solidFill>
                <a:latin typeface="Noto Sans CJK SC"/>
              </a:defRPr>
            </a:pPr>
            <a:r>
              <a:t>声源振动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486400"/>
            <a:ext cx="283464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547EC3"/>
                </a:solidFill>
                <a:latin typeface="Noto Sans CJK SC"/>
              </a:defRPr>
            </a:pPr>
            <a:r>
              <a:t>空气传声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5486400"/>
            <a:ext cx="283464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7F7B"/>
                </a:solidFill>
                <a:latin typeface="Noto Sans CJK SC"/>
              </a:defRPr>
            </a:pPr>
            <a:r>
              <a:t>鼓膜振动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声音还能经过哪里？</a:t>
            </a:r>
          </a:p>
        </p:txBody>
      </p:sp>
      <p:sp>
        <p:nvSpPr>
          <p:cNvPr id="3" name="Cloud 2"/>
          <p:cNvSpPr/>
          <p:nvPr/>
        </p:nvSpPr>
        <p:spPr>
          <a:xfrm>
            <a:off x="960120" y="2423160"/>
            <a:ext cx="3017520" cy="12344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4343400"/>
            <a:ext cx="2057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187F7B"/>
                </a:solidFill>
                <a:latin typeface="Noto Sans CJK SC"/>
              </a:defRPr>
            </a:pPr>
            <a:r>
              <a:t>空气</a:t>
            </a:r>
          </a:p>
        </p:txBody>
      </p:sp>
      <p:sp>
        <p:nvSpPr>
          <p:cNvPr id="5" name="Teardrop 4"/>
          <p:cNvSpPr/>
          <p:nvPr/>
        </p:nvSpPr>
        <p:spPr>
          <a:xfrm rot="10800000">
            <a:off x="4754880" y="2331720"/>
            <a:ext cx="2103120" cy="1737360"/>
          </a:xfrm>
          <a:prstGeom prst="teardrop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0" y="4343400"/>
            <a:ext cx="2011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547EC3"/>
                </a:solidFill>
                <a:latin typeface="Noto Sans CJK SC"/>
              </a:defRPr>
            </a:pPr>
            <a:r>
              <a:t>水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743200"/>
            <a:ext cx="2926080" cy="347472"/>
          </a:xfrm>
          <a:prstGeom prst="rect">
            <a:avLst/>
          </a:prstGeom>
          <a:solidFill>
            <a:srgbClr val="C698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3081528"/>
            <a:ext cx="182880" cy="1005840"/>
          </a:xfrm>
          <a:prstGeom prst="rect">
            <a:avLst/>
          </a:prstGeom>
          <a:solidFill>
            <a:srgbClr val="C698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0" y="3081528"/>
            <a:ext cx="182880" cy="1005840"/>
          </a:xfrm>
          <a:prstGeom prst="rect">
            <a:avLst/>
          </a:prstGeom>
          <a:solidFill>
            <a:srgbClr val="C698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4343400"/>
            <a:ext cx="25603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E77638"/>
                </a:solidFill>
                <a:latin typeface="Noto Sans CJK SC"/>
              </a:defRPr>
            </a:pPr>
            <a:r>
              <a:t>桌板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32120"/>
            <a:ext cx="969264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7F7B"/>
                </a:solidFill>
                <a:latin typeface="Noto Sans CJK SC"/>
              </a:defRPr>
            </a:pPr>
            <a:r>
              <a:t>声音需要介质，空气、水、固体都能传声。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耳朵挑战：哪一次更响？</a:t>
            </a:r>
          </a:p>
        </p:txBody>
      </p:sp>
      <p:sp>
        <p:nvSpPr>
          <p:cNvPr id="3" name="Oval 2"/>
          <p:cNvSpPr/>
          <p:nvPr/>
        </p:nvSpPr>
        <p:spPr>
          <a:xfrm>
            <a:off x="1711756" y="4104741"/>
            <a:ext cx="746150" cy="979322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84832" y="4123395"/>
            <a:ext cx="345094" cy="419709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35030" y="2798978"/>
            <a:ext cx="606247" cy="671535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478584" y="2798978"/>
            <a:ext cx="606247" cy="671535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9068" y="3228014"/>
            <a:ext cx="1399032" cy="1212494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4260" y="3703685"/>
            <a:ext cx="1025956" cy="606247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5509" y="3610416"/>
            <a:ext cx="93268" cy="13057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39737" y="3610416"/>
            <a:ext cx="93268" cy="13057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1277" y="3890223"/>
            <a:ext cx="130576" cy="102595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506565" y="3992819"/>
            <a:ext cx="0" cy="121249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12240" y="4309932"/>
            <a:ext cx="932688" cy="979322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434" y="4477816"/>
            <a:ext cx="391728" cy="419709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0991" y="5140025"/>
            <a:ext cx="419709" cy="223845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65122" y="5140025"/>
            <a:ext cx="419709" cy="223845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93448" y="2209190"/>
            <a:ext cx="474024" cy="120481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5108" y="2159812"/>
            <a:ext cx="474024" cy="126406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11954" y="2406700"/>
            <a:ext cx="227136" cy="77029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73614" y="2357323"/>
            <a:ext cx="227136" cy="790041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3946" y="3048609"/>
            <a:ext cx="1333195" cy="1135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60087" y="3493008"/>
            <a:ext cx="98755" cy="13825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2743" y="3493008"/>
            <a:ext cx="98755" cy="13825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31705" y="3769522"/>
            <a:ext cx="227136" cy="11850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62494" y="3769522"/>
            <a:ext cx="227136" cy="11850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46477" y="3749771"/>
            <a:ext cx="128381" cy="9875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9936601" y="3858402"/>
            <a:ext cx="69129" cy="98755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05730" y="3858402"/>
            <a:ext cx="69129" cy="98755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581083" y="4105290"/>
            <a:ext cx="928298" cy="1125809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08220" y="4283049"/>
            <a:ext cx="474024" cy="65178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32950" y="5013838"/>
            <a:ext cx="474024" cy="237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867" y="5013838"/>
            <a:ext cx="474024" cy="237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40253" y="3690518"/>
            <a:ext cx="266639" cy="9085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ular Callout 33"/>
          <p:cNvSpPr/>
          <p:nvPr/>
        </p:nvSpPr>
        <p:spPr>
          <a:xfrm>
            <a:off x="3017520" y="2286000"/>
            <a:ext cx="5166360" cy="205740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39" y="2560320"/>
            <a:ext cx="4617720" cy="1600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400" b="0">
                <a:solidFill>
                  <a:srgbClr val="234747"/>
                </a:solidFill>
                <a:latin typeface="Noto Sans CJK SC"/>
              </a:defRPr>
            </a:pPr>
            <a:r>
              <a:t>“你好，小兔！”</a:t>
            </a:r>
          </a:p>
          <a:p>
            <a:pPr>
              <a:spcAft>
                <a:spcPts val="800"/>
              </a:spcAft>
              <a:defRPr sz="3400" b="0">
                <a:solidFill>
                  <a:srgbClr val="234747"/>
                </a:solidFill>
                <a:latin typeface="Noto Sans CJK SC"/>
              </a:defRPr>
            </a:pPr>
            <a:r>
              <a:t>听两次，选一次。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响度：声音听起来有多响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2816352"/>
            <a:ext cx="34290" cy="257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5850" y="2842099"/>
            <a:ext cx="34289" cy="2511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0139" y="2867213"/>
            <a:ext cx="34291" cy="2386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4430" y="2891075"/>
            <a:ext cx="34289" cy="220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88719" y="2913096"/>
            <a:ext cx="34291" cy="19640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23010" y="2932736"/>
            <a:ext cx="34290" cy="16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57300" y="2949509"/>
            <a:ext cx="34289" cy="1349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91589" y="2963004"/>
            <a:ext cx="34291" cy="988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2972888"/>
            <a:ext cx="34289" cy="602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60169" y="2978917"/>
            <a:ext cx="34291" cy="202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4460" y="2978917"/>
            <a:ext cx="34290" cy="202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28750" y="2972888"/>
            <a:ext cx="34289" cy="602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463039" y="2963004"/>
            <a:ext cx="34291" cy="988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97330" y="2949509"/>
            <a:ext cx="34289" cy="1349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31619" y="2932736"/>
            <a:ext cx="34291" cy="16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565910" y="2913096"/>
            <a:ext cx="34290" cy="19640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600200" y="2891075"/>
            <a:ext cx="34289" cy="220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634489" y="2867213"/>
            <a:ext cx="34291" cy="2386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68780" y="2842099"/>
            <a:ext cx="34289" cy="2511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703069" y="2816352"/>
            <a:ext cx="34291" cy="257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37360" y="2790604"/>
            <a:ext cx="34290" cy="25748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71650" y="2765490"/>
            <a:ext cx="34289" cy="2511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805939" y="2741628"/>
            <a:ext cx="34291" cy="2386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840230" y="2719607"/>
            <a:ext cx="34289" cy="220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874519" y="2699967"/>
            <a:ext cx="34291" cy="19640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908810" y="2683194"/>
            <a:ext cx="34290" cy="16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943100" y="2669699"/>
            <a:ext cx="34289" cy="1349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977389" y="2659815"/>
            <a:ext cx="34291" cy="988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011680" y="2653786"/>
            <a:ext cx="34289" cy="602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045969" y="2651760"/>
            <a:ext cx="34291" cy="2026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080260" y="2651760"/>
            <a:ext cx="34290" cy="2026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14550" y="2653786"/>
            <a:ext cx="34289" cy="602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48839" y="2659815"/>
            <a:ext cx="34291" cy="988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183130" y="2669699"/>
            <a:ext cx="34290" cy="1349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17420" y="2683194"/>
            <a:ext cx="34290" cy="16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251710" y="2699967"/>
            <a:ext cx="34290" cy="19640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286000" y="2719607"/>
            <a:ext cx="34289" cy="220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320289" y="2741628"/>
            <a:ext cx="34291" cy="2386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54580" y="2765490"/>
            <a:ext cx="34290" cy="2511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88870" y="2790604"/>
            <a:ext cx="34290" cy="25748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423160" y="2816352"/>
            <a:ext cx="34290" cy="257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57450" y="2842099"/>
            <a:ext cx="34289" cy="2511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91739" y="2867213"/>
            <a:ext cx="34291" cy="2386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26030" y="2891075"/>
            <a:ext cx="34290" cy="220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60320" y="2913096"/>
            <a:ext cx="34290" cy="19640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594610" y="2932736"/>
            <a:ext cx="34290" cy="16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628900" y="2949509"/>
            <a:ext cx="34289" cy="1349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663189" y="2963004"/>
            <a:ext cx="34291" cy="988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697480" y="2972888"/>
            <a:ext cx="34290" cy="602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731770" y="2978917"/>
            <a:ext cx="34290" cy="202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766060" y="2978917"/>
            <a:ext cx="34290" cy="202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00350" y="2972888"/>
            <a:ext cx="34289" cy="602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834639" y="2963004"/>
            <a:ext cx="34291" cy="988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868930" y="2949509"/>
            <a:ext cx="34290" cy="1349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903220" y="2932736"/>
            <a:ext cx="34290" cy="16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937510" y="2913096"/>
            <a:ext cx="34290" cy="19640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971800" y="2891075"/>
            <a:ext cx="34290" cy="220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006090" y="2867213"/>
            <a:ext cx="34289" cy="2386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040379" y="2842099"/>
            <a:ext cx="34291" cy="2511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74670" y="2816352"/>
            <a:ext cx="34290" cy="257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108960" y="2790604"/>
            <a:ext cx="34290" cy="25748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143250" y="2765490"/>
            <a:ext cx="34290" cy="2511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177540" y="2741628"/>
            <a:ext cx="34289" cy="2386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211829" y="2719607"/>
            <a:ext cx="34291" cy="220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246120" y="2699967"/>
            <a:ext cx="34290" cy="19640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280410" y="2683194"/>
            <a:ext cx="34290" cy="16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314700" y="2669699"/>
            <a:ext cx="34290" cy="1349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348990" y="2659815"/>
            <a:ext cx="34289" cy="988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383279" y="2653786"/>
            <a:ext cx="34291" cy="602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417570" y="2651760"/>
            <a:ext cx="34290" cy="2026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451860" y="2651760"/>
            <a:ext cx="34290" cy="2026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486150" y="2653786"/>
            <a:ext cx="34290" cy="602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20440" y="2659815"/>
            <a:ext cx="34289" cy="988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54729" y="2669699"/>
            <a:ext cx="34291" cy="1349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589020" y="2683194"/>
            <a:ext cx="34290" cy="16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623310" y="2699967"/>
            <a:ext cx="34290" cy="19640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657600" y="2719607"/>
            <a:ext cx="34289" cy="220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691889" y="2741628"/>
            <a:ext cx="34290" cy="2386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726179" y="2765490"/>
            <a:ext cx="34291" cy="2511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760470" y="2790604"/>
            <a:ext cx="34290" cy="257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794760" y="2816351"/>
            <a:ext cx="34290" cy="25748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829050" y="2842099"/>
            <a:ext cx="34289" cy="2511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863339" y="2867213"/>
            <a:ext cx="34290" cy="2386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897629" y="2891075"/>
            <a:ext cx="34291" cy="220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931920" y="2913096"/>
            <a:ext cx="34290" cy="19640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966210" y="2932736"/>
            <a:ext cx="34290" cy="16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000500" y="2949509"/>
            <a:ext cx="34289" cy="1349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034789" y="2963004"/>
            <a:ext cx="34290" cy="988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069079" y="2972888"/>
            <a:ext cx="34291" cy="602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103370" y="2978917"/>
            <a:ext cx="34290" cy="202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137660" y="2978917"/>
            <a:ext cx="34290" cy="202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4171950" y="2972888"/>
            <a:ext cx="34290" cy="602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206240" y="2963004"/>
            <a:ext cx="34289" cy="988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4240529" y="2949509"/>
            <a:ext cx="34291" cy="1349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274820" y="2932736"/>
            <a:ext cx="34290" cy="16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309110" y="2913096"/>
            <a:ext cx="34290" cy="19640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343400" y="2891075"/>
            <a:ext cx="34290" cy="220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377690" y="2867213"/>
            <a:ext cx="34289" cy="2386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411979" y="2842099"/>
            <a:ext cx="34291" cy="2511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4446270" y="2816352"/>
            <a:ext cx="34290" cy="257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4480560" y="2790604"/>
            <a:ext cx="34290" cy="25748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4514850" y="2765490"/>
            <a:ext cx="34290" cy="2511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549140" y="2741628"/>
            <a:ext cx="34289" cy="2386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583429" y="2719607"/>
            <a:ext cx="34291" cy="220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4617720" y="2699967"/>
            <a:ext cx="34290" cy="19640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4652010" y="2683194"/>
            <a:ext cx="34290" cy="16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4686300" y="2669699"/>
            <a:ext cx="34290" cy="1349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4720590" y="2659815"/>
            <a:ext cx="34289" cy="988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754879" y="2653786"/>
            <a:ext cx="34291" cy="602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4789170" y="2651760"/>
            <a:ext cx="34290" cy="2026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4823460" y="2651760"/>
            <a:ext cx="34290" cy="2026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857750" y="2653786"/>
            <a:ext cx="34290" cy="602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892040" y="2659815"/>
            <a:ext cx="34289" cy="988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4926329" y="2669699"/>
            <a:ext cx="34291" cy="1349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960620" y="2683194"/>
            <a:ext cx="34290" cy="16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994910" y="2699967"/>
            <a:ext cx="34290" cy="19640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029200" y="2719607"/>
            <a:ext cx="34290" cy="220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063490" y="2741628"/>
            <a:ext cx="34289" cy="2386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5097779" y="2765490"/>
            <a:ext cx="34291" cy="2511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5132070" y="2790604"/>
            <a:ext cx="34290" cy="25748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51560" y="4279392"/>
            <a:ext cx="34290" cy="7152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85850" y="4350913"/>
            <a:ext cx="34289" cy="6976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120139" y="4420674"/>
            <a:ext cx="34291" cy="6628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154430" y="4486956"/>
            <a:ext cx="34289" cy="6117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188719" y="4548127"/>
            <a:ext cx="34291" cy="54554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223010" y="4602681"/>
            <a:ext cx="34290" cy="46593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257300" y="4649274"/>
            <a:ext cx="34289" cy="37486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291589" y="4686760"/>
            <a:ext cx="34291" cy="27455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25880" y="4714215"/>
            <a:ext cx="34289" cy="16748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360169" y="4730963"/>
            <a:ext cx="34291" cy="5629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394460" y="4730963"/>
            <a:ext cx="34290" cy="5629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428750" y="4714215"/>
            <a:ext cx="34289" cy="16748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463039" y="4686760"/>
            <a:ext cx="34291" cy="27455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497330" y="4649274"/>
            <a:ext cx="34289" cy="37486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531619" y="4602681"/>
            <a:ext cx="34291" cy="46593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565910" y="4548127"/>
            <a:ext cx="34290" cy="54554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600200" y="4486956"/>
            <a:ext cx="34289" cy="6117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634489" y="4420674"/>
            <a:ext cx="34291" cy="6628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668780" y="4350913"/>
            <a:ext cx="34289" cy="6976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703069" y="4279392"/>
            <a:ext cx="34291" cy="7152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737360" y="4207870"/>
            <a:ext cx="34290" cy="7152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771650" y="4138109"/>
            <a:ext cx="34289" cy="6976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805939" y="4071827"/>
            <a:ext cx="34291" cy="6628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840230" y="4010656"/>
            <a:ext cx="34289" cy="6117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874519" y="3956102"/>
            <a:ext cx="34291" cy="54554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908810" y="3909509"/>
            <a:ext cx="34290" cy="46593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943100" y="3872023"/>
            <a:ext cx="34289" cy="37486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977389" y="3844568"/>
            <a:ext cx="34291" cy="27455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011680" y="3827820"/>
            <a:ext cx="34289" cy="16748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045969" y="3822191"/>
            <a:ext cx="34291" cy="5629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2080260" y="3822191"/>
            <a:ext cx="34290" cy="5629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2114550" y="3827820"/>
            <a:ext cx="34289" cy="16748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2148839" y="3844568"/>
            <a:ext cx="34291" cy="27455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2183130" y="3872023"/>
            <a:ext cx="34290" cy="37486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2217420" y="3909509"/>
            <a:ext cx="34290" cy="46593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2251710" y="3956102"/>
            <a:ext cx="34290" cy="54554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2286000" y="4010656"/>
            <a:ext cx="34289" cy="6117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2320289" y="4071827"/>
            <a:ext cx="34291" cy="6628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2354580" y="4138109"/>
            <a:ext cx="34290" cy="6976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2388870" y="4207870"/>
            <a:ext cx="34290" cy="7152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2423160" y="4279391"/>
            <a:ext cx="34290" cy="7152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2457450" y="4350913"/>
            <a:ext cx="34289" cy="6976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2491739" y="4420674"/>
            <a:ext cx="34291" cy="6628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2526030" y="4486956"/>
            <a:ext cx="34290" cy="6117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2560320" y="4548127"/>
            <a:ext cx="34290" cy="54554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2594610" y="4602681"/>
            <a:ext cx="34290" cy="46593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2628900" y="4649274"/>
            <a:ext cx="34289" cy="37486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2663189" y="4686760"/>
            <a:ext cx="34291" cy="27455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2697480" y="4714215"/>
            <a:ext cx="34290" cy="16748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2731770" y="4730963"/>
            <a:ext cx="34290" cy="5629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2766060" y="4730963"/>
            <a:ext cx="34290" cy="5629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2800350" y="4714215"/>
            <a:ext cx="34289" cy="16748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2834639" y="4686760"/>
            <a:ext cx="34291" cy="27455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2868930" y="4649274"/>
            <a:ext cx="34290" cy="37486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2903220" y="4602681"/>
            <a:ext cx="34290" cy="46593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2937510" y="4548127"/>
            <a:ext cx="34290" cy="54554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2971800" y="4486956"/>
            <a:ext cx="34290" cy="6117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3006090" y="4420674"/>
            <a:ext cx="34289" cy="6628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3040379" y="4350913"/>
            <a:ext cx="34291" cy="6976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3074670" y="4279392"/>
            <a:ext cx="34290" cy="7152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3108960" y="4207870"/>
            <a:ext cx="34290" cy="7152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3143250" y="4138109"/>
            <a:ext cx="34290" cy="6976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3177540" y="4071827"/>
            <a:ext cx="34289" cy="6628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3211829" y="4010656"/>
            <a:ext cx="34291" cy="6117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3246120" y="3956102"/>
            <a:ext cx="34290" cy="54554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3280410" y="3909509"/>
            <a:ext cx="34290" cy="46593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3314700" y="3872023"/>
            <a:ext cx="34290" cy="37486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3348990" y="3844568"/>
            <a:ext cx="34289" cy="27455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3383279" y="3827820"/>
            <a:ext cx="34291" cy="16748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3417570" y="3822191"/>
            <a:ext cx="34290" cy="5629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3451860" y="3822191"/>
            <a:ext cx="34290" cy="5629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3486150" y="3827820"/>
            <a:ext cx="34290" cy="16748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3520440" y="3844568"/>
            <a:ext cx="34289" cy="27455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3554729" y="3872023"/>
            <a:ext cx="34291" cy="37486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3589020" y="3909509"/>
            <a:ext cx="34290" cy="46593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3623310" y="3956102"/>
            <a:ext cx="34290" cy="54554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3657600" y="4010656"/>
            <a:ext cx="34289" cy="6117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3691889" y="4071827"/>
            <a:ext cx="34290" cy="6628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3726179" y="4138109"/>
            <a:ext cx="34291" cy="6976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3760470" y="4207870"/>
            <a:ext cx="34290" cy="7152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3794760" y="4279391"/>
            <a:ext cx="34290" cy="7152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3829050" y="4350913"/>
            <a:ext cx="34289" cy="6976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3863339" y="4420674"/>
            <a:ext cx="34290" cy="6628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3897629" y="4486956"/>
            <a:ext cx="34291" cy="6117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3931920" y="4548127"/>
            <a:ext cx="34290" cy="54554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3966210" y="4602681"/>
            <a:ext cx="34290" cy="46593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4000500" y="4649274"/>
            <a:ext cx="34289" cy="37486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4034789" y="4686760"/>
            <a:ext cx="34290" cy="27455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4069079" y="4714215"/>
            <a:ext cx="34291" cy="16748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4103370" y="4730963"/>
            <a:ext cx="34290" cy="5629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4137660" y="4730963"/>
            <a:ext cx="34290" cy="5629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4171950" y="4714215"/>
            <a:ext cx="34290" cy="16748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4206240" y="4686760"/>
            <a:ext cx="34289" cy="27455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4240529" y="4649274"/>
            <a:ext cx="34291" cy="37486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4274820" y="4602681"/>
            <a:ext cx="34290" cy="46593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4309110" y="4548127"/>
            <a:ext cx="34290" cy="54554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4343400" y="4486956"/>
            <a:ext cx="34290" cy="6117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4377690" y="4420674"/>
            <a:ext cx="34289" cy="6628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4411979" y="4350913"/>
            <a:ext cx="34291" cy="6976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4446270" y="4279392"/>
            <a:ext cx="34290" cy="7152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4480560" y="4207870"/>
            <a:ext cx="34290" cy="7152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4514850" y="4138109"/>
            <a:ext cx="34290" cy="6976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4549140" y="4071827"/>
            <a:ext cx="34289" cy="6628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4583429" y="4010656"/>
            <a:ext cx="34291" cy="6117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4617720" y="3956102"/>
            <a:ext cx="34290" cy="54554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4652010" y="3909509"/>
            <a:ext cx="34290" cy="46593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4686300" y="3872023"/>
            <a:ext cx="34290" cy="37486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4720590" y="3844568"/>
            <a:ext cx="34289" cy="27455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4754879" y="3827820"/>
            <a:ext cx="34291" cy="16748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4789170" y="3822191"/>
            <a:ext cx="34290" cy="5629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4823460" y="3822191"/>
            <a:ext cx="34290" cy="5629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4857750" y="3827820"/>
            <a:ext cx="34290" cy="16748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4892040" y="3844568"/>
            <a:ext cx="34289" cy="27455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4926329" y="3872023"/>
            <a:ext cx="34291" cy="37486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4960620" y="3909509"/>
            <a:ext cx="34290" cy="46593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4994910" y="3956102"/>
            <a:ext cx="34290" cy="54554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5029200" y="4010656"/>
            <a:ext cx="34290" cy="6117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5063490" y="4071827"/>
            <a:ext cx="34289" cy="6628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5097779" y="4138109"/>
            <a:ext cx="34291" cy="69761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5132070" y="4207870"/>
            <a:ext cx="34290" cy="71522"/>
          </a:xfrm>
          <a:prstGeom prst="line">
            <a:avLst/>
          </a:prstGeom>
          <a:ln w="381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5897880" y="2322576"/>
            <a:ext cx="50292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547EC3"/>
                </a:solidFill>
                <a:latin typeface="Noto Sans CJK SC"/>
              </a:defRPr>
            </a:pPr>
            <a:r>
              <a:t>振动幅度小些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897880" y="3803904"/>
            <a:ext cx="50292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E77638"/>
                </a:solidFill>
                <a:latin typeface="Noto Sans CJK SC"/>
              </a:defRPr>
            </a:pPr>
            <a:r>
              <a:t>振动幅度大些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051560" y="5522976"/>
            <a:ext cx="102412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0">
                <a:solidFill>
                  <a:srgbClr val="234747"/>
                </a:solidFill>
                <a:latin typeface="Noto Sans CJK SC"/>
              </a:defRPr>
            </a:pPr>
            <a:r>
              <a:t>同一声源、同样远，振动幅度大些，通常更响。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听音高，做手势</a:t>
            </a:r>
          </a:p>
        </p:txBody>
      </p:sp>
      <p:sp>
        <p:nvSpPr>
          <p:cNvPr id="3" name="Oval 2"/>
          <p:cNvSpPr/>
          <p:nvPr/>
        </p:nvSpPr>
        <p:spPr>
          <a:xfrm>
            <a:off x="1349654" y="2212848"/>
            <a:ext cx="482803" cy="12271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23567" y="2162556"/>
            <a:ext cx="482803" cy="12874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70355" y="2414016"/>
            <a:ext cx="231343" cy="78455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44268" y="2363724"/>
            <a:ext cx="231343" cy="80467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9420" y="3067812"/>
            <a:ext cx="1357884" cy="11567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1231" y="352044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14676" y="352044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90472" y="380207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34793" y="380207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12924" y="3781958"/>
            <a:ext cx="130759" cy="10058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1902866" y="389260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73275" y="389260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540764" y="4144060"/>
            <a:ext cx="945489" cy="1146657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72107" y="4325112"/>
            <a:ext cx="482803" cy="66385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89888" y="506943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04618" y="506943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15844" y="3721608"/>
            <a:ext cx="271576" cy="9253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2331720"/>
            <a:ext cx="621792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7049A7"/>
                </a:solidFill>
                <a:latin typeface="Noto Sans CJK SC"/>
              </a:defRPr>
            </a:pPr>
            <a:r>
              <a:t>高一些，手举高。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069080"/>
            <a:ext cx="621792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547EC3"/>
                </a:solidFill>
                <a:latin typeface="Noto Sans CJK SC"/>
              </a:defRPr>
            </a:pPr>
            <a:r>
              <a:t>低一些，手放低。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音调：声音听起来有多高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2816352"/>
            <a:ext cx="34290" cy="45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5850" y="2862125"/>
            <a:ext cx="34289" cy="446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0139" y="2906772"/>
            <a:ext cx="34291" cy="424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4430" y="2949193"/>
            <a:ext cx="34289" cy="3914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88719" y="2988342"/>
            <a:ext cx="34291" cy="3491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23010" y="3023257"/>
            <a:ext cx="34290" cy="298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57300" y="3053076"/>
            <a:ext cx="34289" cy="2399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91589" y="3077067"/>
            <a:ext cx="34291" cy="1757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3094638"/>
            <a:ext cx="34289" cy="107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60169" y="3105357"/>
            <a:ext cx="34291" cy="360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4460" y="3105357"/>
            <a:ext cx="34290" cy="360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28750" y="3094638"/>
            <a:ext cx="34289" cy="107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463039" y="3077067"/>
            <a:ext cx="34291" cy="1757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97330" y="3053076"/>
            <a:ext cx="34289" cy="2399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31619" y="3023257"/>
            <a:ext cx="34291" cy="298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565910" y="2988342"/>
            <a:ext cx="34290" cy="3491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600200" y="2949193"/>
            <a:ext cx="34289" cy="3914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634489" y="2906772"/>
            <a:ext cx="34291" cy="424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68780" y="2862125"/>
            <a:ext cx="34289" cy="446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703069" y="2816352"/>
            <a:ext cx="34291" cy="45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37360" y="2770578"/>
            <a:ext cx="34290" cy="4577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71650" y="2725931"/>
            <a:ext cx="34289" cy="446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805939" y="2683510"/>
            <a:ext cx="34291" cy="424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840230" y="2644361"/>
            <a:ext cx="34289" cy="3914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874519" y="2609446"/>
            <a:ext cx="34291" cy="3491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908810" y="2579627"/>
            <a:ext cx="34290" cy="298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943100" y="2555636"/>
            <a:ext cx="34289" cy="2399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977389" y="2538065"/>
            <a:ext cx="34291" cy="1757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011680" y="2527346"/>
            <a:ext cx="34289" cy="107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045969" y="2523744"/>
            <a:ext cx="34291" cy="360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080260" y="2523744"/>
            <a:ext cx="34290" cy="360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14550" y="2527346"/>
            <a:ext cx="34289" cy="107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48839" y="2538065"/>
            <a:ext cx="34291" cy="1757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183130" y="2555636"/>
            <a:ext cx="34290" cy="2399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17420" y="2579627"/>
            <a:ext cx="34290" cy="298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251710" y="2609446"/>
            <a:ext cx="34290" cy="3491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286000" y="2644361"/>
            <a:ext cx="34289" cy="3914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320289" y="2683510"/>
            <a:ext cx="34291" cy="424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54580" y="2725931"/>
            <a:ext cx="34290" cy="446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88870" y="2770578"/>
            <a:ext cx="34290" cy="45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423160" y="2816351"/>
            <a:ext cx="34290" cy="4577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57450" y="2862125"/>
            <a:ext cx="34289" cy="446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91739" y="2906772"/>
            <a:ext cx="34291" cy="424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26030" y="2949193"/>
            <a:ext cx="34290" cy="3914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60320" y="2988342"/>
            <a:ext cx="34290" cy="3491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594610" y="3023257"/>
            <a:ext cx="34290" cy="298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628900" y="3053076"/>
            <a:ext cx="34289" cy="2399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663189" y="3077067"/>
            <a:ext cx="34291" cy="1757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697480" y="3094638"/>
            <a:ext cx="34290" cy="107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731770" y="3105357"/>
            <a:ext cx="34290" cy="360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766060" y="3105357"/>
            <a:ext cx="34290" cy="360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00350" y="3094638"/>
            <a:ext cx="34289" cy="107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834639" y="3077067"/>
            <a:ext cx="34291" cy="1757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868930" y="3053076"/>
            <a:ext cx="34290" cy="2399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903220" y="3023257"/>
            <a:ext cx="34290" cy="298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937510" y="2988342"/>
            <a:ext cx="34290" cy="3491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971800" y="2949193"/>
            <a:ext cx="34290" cy="3914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006090" y="2906772"/>
            <a:ext cx="34289" cy="424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040379" y="2862125"/>
            <a:ext cx="34291" cy="446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74670" y="2816352"/>
            <a:ext cx="34290" cy="45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108960" y="2770578"/>
            <a:ext cx="34290" cy="4577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143250" y="2725931"/>
            <a:ext cx="34290" cy="446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177540" y="2683510"/>
            <a:ext cx="34289" cy="424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211829" y="2644361"/>
            <a:ext cx="34291" cy="3914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246120" y="2609446"/>
            <a:ext cx="34290" cy="3491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280410" y="2579627"/>
            <a:ext cx="34290" cy="298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314700" y="2555636"/>
            <a:ext cx="34290" cy="2399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348990" y="2538065"/>
            <a:ext cx="34289" cy="1757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383279" y="2527346"/>
            <a:ext cx="34291" cy="107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417570" y="2523744"/>
            <a:ext cx="34290" cy="360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451860" y="2523744"/>
            <a:ext cx="34290" cy="360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486150" y="2527346"/>
            <a:ext cx="34290" cy="107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20440" y="2538065"/>
            <a:ext cx="34289" cy="1757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54729" y="2555636"/>
            <a:ext cx="34291" cy="2399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589020" y="2579627"/>
            <a:ext cx="34290" cy="298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623310" y="2609446"/>
            <a:ext cx="34290" cy="3491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657600" y="2644361"/>
            <a:ext cx="34289" cy="3914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691889" y="2683510"/>
            <a:ext cx="34290" cy="424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726179" y="2725931"/>
            <a:ext cx="34291" cy="446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760470" y="2770578"/>
            <a:ext cx="34290" cy="45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794760" y="2816351"/>
            <a:ext cx="34290" cy="4577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829050" y="2862125"/>
            <a:ext cx="34289" cy="446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863339" y="2906772"/>
            <a:ext cx="34290" cy="424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897629" y="2949193"/>
            <a:ext cx="34291" cy="3914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931920" y="2988342"/>
            <a:ext cx="34290" cy="3491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966210" y="3023257"/>
            <a:ext cx="34290" cy="298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000500" y="3053076"/>
            <a:ext cx="34289" cy="2399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034789" y="3077067"/>
            <a:ext cx="34290" cy="1757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069079" y="3094638"/>
            <a:ext cx="34291" cy="107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103370" y="3105357"/>
            <a:ext cx="34290" cy="360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137660" y="3105357"/>
            <a:ext cx="34290" cy="360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4171950" y="3094638"/>
            <a:ext cx="34290" cy="107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206240" y="3077067"/>
            <a:ext cx="34289" cy="1757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4240529" y="3053076"/>
            <a:ext cx="34291" cy="2399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274820" y="3023257"/>
            <a:ext cx="34290" cy="298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309110" y="2988342"/>
            <a:ext cx="34290" cy="3491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343400" y="2949193"/>
            <a:ext cx="34290" cy="3914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377690" y="2906772"/>
            <a:ext cx="34289" cy="424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411979" y="2862125"/>
            <a:ext cx="34291" cy="446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4446270" y="2816352"/>
            <a:ext cx="34290" cy="45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4480560" y="2770578"/>
            <a:ext cx="34290" cy="45774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4514850" y="2725931"/>
            <a:ext cx="34290" cy="446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549140" y="2683510"/>
            <a:ext cx="34289" cy="424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583429" y="2644361"/>
            <a:ext cx="34291" cy="3914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4617720" y="2609446"/>
            <a:ext cx="34290" cy="3491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4652010" y="2579627"/>
            <a:ext cx="34290" cy="298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4686300" y="2555636"/>
            <a:ext cx="34290" cy="2399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4720590" y="2538065"/>
            <a:ext cx="34289" cy="1757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754879" y="2527346"/>
            <a:ext cx="34291" cy="107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4789170" y="2523744"/>
            <a:ext cx="34290" cy="360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4823460" y="2523744"/>
            <a:ext cx="34290" cy="3602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857750" y="2527346"/>
            <a:ext cx="34290" cy="107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892040" y="2538065"/>
            <a:ext cx="34289" cy="1757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4926329" y="2555636"/>
            <a:ext cx="34291" cy="2399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960620" y="2579627"/>
            <a:ext cx="34290" cy="2981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994910" y="2609446"/>
            <a:ext cx="34290" cy="34915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029200" y="2644361"/>
            <a:ext cx="34290" cy="39149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063490" y="2683510"/>
            <a:ext cx="34289" cy="42421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5097779" y="2725931"/>
            <a:ext cx="34291" cy="44647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5132070" y="2770578"/>
            <a:ext cx="34290" cy="45773"/>
          </a:xfrm>
          <a:prstGeom prst="line">
            <a:avLst/>
          </a:prstGeom>
          <a:ln w="38100">
            <a:solidFill>
              <a:srgbClr val="547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51560" y="4279392"/>
            <a:ext cx="34290" cy="9042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85850" y="4369812"/>
            <a:ext cx="34289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120139" y="4451382"/>
            <a:ext cx="34291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154430" y="4516116"/>
            <a:ext cx="34289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188719" y="4557678"/>
            <a:ext cx="34291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223010" y="4557678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257300" y="4516116"/>
            <a:ext cx="34289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291589" y="4451382"/>
            <a:ext cx="34291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325880" y="4369812"/>
            <a:ext cx="34289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360169" y="4279392"/>
            <a:ext cx="34291" cy="9042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394460" y="4188971"/>
            <a:ext cx="34290" cy="90421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428750" y="4107401"/>
            <a:ext cx="34289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463039" y="4042667"/>
            <a:ext cx="34291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497330" y="4001105"/>
            <a:ext cx="34289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531619" y="3986783"/>
            <a:ext cx="34291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565910" y="3986783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600200" y="4001105"/>
            <a:ext cx="34289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634489" y="4042667"/>
            <a:ext cx="34291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668780" y="4107401"/>
            <a:ext cx="34289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703069" y="4188971"/>
            <a:ext cx="34291" cy="90421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737360" y="4279392"/>
            <a:ext cx="34290" cy="9042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771650" y="4369812"/>
            <a:ext cx="34289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805939" y="4451382"/>
            <a:ext cx="34291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840230" y="4516116"/>
            <a:ext cx="34289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874519" y="4557678"/>
            <a:ext cx="34291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908810" y="4557678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943100" y="4516116"/>
            <a:ext cx="34289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977389" y="4451382"/>
            <a:ext cx="34291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011680" y="4369812"/>
            <a:ext cx="34289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045969" y="4279392"/>
            <a:ext cx="34291" cy="9042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080260" y="4188971"/>
            <a:ext cx="34290" cy="90421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114550" y="4107401"/>
            <a:ext cx="34289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148839" y="4042667"/>
            <a:ext cx="34291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183130" y="4001105"/>
            <a:ext cx="34290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217420" y="3986783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2251710" y="3986783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2286000" y="4001105"/>
            <a:ext cx="34289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2320289" y="4042667"/>
            <a:ext cx="34291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2354580" y="4107401"/>
            <a:ext cx="34290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2388870" y="4188971"/>
            <a:ext cx="34290" cy="9042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2423160" y="4279391"/>
            <a:ext cx="34290" cy="90421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2457450" y="4369812"/>
            <a:ext cx="34289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2491739" y="4451382"/>
            <a:ext cx="34291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2526030" y="4516116"/>
            <a:ext cx="34290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2560320" y="4557678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2594610" y="4557678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2628900" y="4516116"/>
            <a:ext cx="34289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2663189" y="4451382"/>
            <a:ext cx="34291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2697480" y="4369812"/>
            <a:ext cx="34290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2731770" y="4279392"/>
            <a:ext cx="34290" cy="9042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2766060" y="4188971"/>
            <a:ext cx="34290" cy="90421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2800350" y="4107401"/>
            <a:ext cx="34289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2834639" y="4042667"/>
            <a:ext cx="34291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2868930" y="4001105"/>
            <a:ext cx="34290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2903220" y="3986783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2937510" y="3986783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2971800" y="4001105"/>
            <a:ext cx="34290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3006090" y="4042667"/>
            <a:ext cx="34289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3040379" y="4107401"/>
            <a:ext cx="34291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3074670" y="4188971"/>
            <a:ext cx="34290" cy="90421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3108960" y="4279392"/>
            <a:ext cx="34290" cy="9042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3143250" y="4369812"/>
            <a:ext cx="34290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3177540" y="4451382"/>
            <a:ext cx="34289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211829" y="4516116"/>
            <a:ext cx="34291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3246120" y="4557678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3280410" y="4557678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3314700" y="4516116"/>
            <a:ext cx="34290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3348990" y="4451382"/>
            <a:ext cx="34289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3383279" y="4369812"/>
            <a:ext cx="34291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3417570" y="4279392"/>
            <a:ext cx="34290" cy="9042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3451860" y="4188971"/>
            <a:ext cx="34290" cy="90421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3486150" y="4107401"/>
            <a:ext cx="34290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3520440" y="4042667"/>
            <a:ext cx="34289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3554729" y="4001105"/>
            <a:ext cx="34291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3589020" y="3986783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3623310" y="3986783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3657600" y="4001105"/>
            <a:ext cx="34289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3691889" y="4042667"/>
            <a:ext cx="34290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3726179" y="4107401"/>
            <a:ext cx="34291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3760470" y="4188971"/>
            <a:ext cx="34290" cy="9042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3794760" y="4279391"/>
            <a:ext cx="34290" cy="90421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3829050" y="4369812"/>
            <a:ext cx="34289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3863339" y="4451382"/>
            <a:ext cx="34290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3897629" y="4516116"/>
            <a:ext cx="34291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3931920" y="4557678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3966210" y="4557678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4000500" y="4516116"/>
            <a:ext cx="34289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4034789" y="4451382"/>
            <a:ext cx="34290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4069079" y="4369812"/>
            <a:ext cx="34291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4103370" y="4279392"/>
            <a:ext cx="34290" cy="9042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4137660" y="4188971"/>
            <a:ext cx="34290" cy="90421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4171950" y="4107401"/>
            <a:ext cx="34290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4206240" y="4042667"/>
            <a:ext cx="34289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4240529" y="4001105"/>
            <a:ext cx="34291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4274820" y="3986783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4309110" y="3986783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4343400" y="4001105"/>
            <a:ext cx="34290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4377690" y="4042667"/>
            <a:ext cx="34289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4411979" y="4107401"/>
            <a:ext cx="34291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4446270" y="4188971"/>
            <a:ext cx="34290" cy="90421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4480560" y="4279392"/>
            <a:ext cx="34290" cy="9042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4514850" y="4369812"/>
            <a:ext cx="34290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4549140" y="4451382"/>
            <a:ext cx="34289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4583429" y="4516116"/>
            <a:ext cx="34291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4617720" y="4557678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4652010" y="4557678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4686300" y="4516116"/>
            <a:ext cx="34290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4720590" y="4451382"/>
            <a:ext cx="34289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4754879" y="4369812"/>
            <a:ext cx="34291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4789170" y="4279392"/>
            <a:ext cx="34290" cy="9042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4823460" y="4188971"/>
            <a:ext cx="34290" cy="90421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4857750" y="4107401"/>
            <a:ext cx="34290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4892040" y="4042667"/>
            <a:ext cx="34289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4926329" y="4001105"/>
            <a:ext cx="34291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4960620" y="3986783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4994910" y="3986783"/>
            <a:ext cx="34290" cy="1432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5029200" y="4001105"/>
            <a:ext cx="34290" cy="41562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5063490" y="4042667"/>
            <a:ext cx="34289" cy="64734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5097779" y="4107401"/>
            <a:ext cx="34291" cy="8157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5132070" y="4188971"/>
            <a:ext cx="34290" cy="90420"/>
          </a:xfrm>
          <a:prstGeom prst="line">
            <a:avLst/>
          </a:prstGeom>
          <a:ln w="3810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5897880" y="2322576"/>
            <a:ext cx="50292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547EC3"/>
                </a:solidFill>
                <a:latin typeface="Noto Sans CJK SC"/>
              </a:defRPr>
            </a:pPr>
            <a:r>
              <a:t>振动慢些，音调低些。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897880" y="3803904"/>
            <a:ext cx="50292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7049A7"/>
                </a:solidFill>
                <a:latin typeface="Noto Sans CJK SC"/>
              </a:defRPr>
            </a:pPr>
            <a:r>
              <a:t>振动快些，音调高些。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371600" y="5532120"/>
            <a:ext cx="969264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87F7B"/>
                </a:solidFill>
                <a:latin typeface="Noto Sans CJK SC"/>
              </a:defRPr>
            </a:pPr>
            <a:r>
              <a:t>更高，不等于更响。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闭上眼，猜猜是谁？</a:t>
            </a:r>
          </a:p>
        </p:txBody>
      </p:sp>
      <p:sp>
        <p:nvSpPr>
          <p:cNvPr id="3" name="Oval 2"/>
          <p:cNvSpPr/>
          <p:nvPr/>
        </p:nvSpPr>
        <p:spPr>
          <a:xfrm>
            <a:off x="2340864" y="4293108"/>
            <a:ext cx="804672" cy="1056132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4313224"/>
            <a:ext cx="372160" cy="452628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395374" y="2884932"/>
            <a:ext cx="653796" cy="724204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2089404" y="2884932"/>
            <a:ext cx="653796" cy="724204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3347618"/>
            <a:ext cx="1508760" cy="1307592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6308" y="3860596"/>
            <a:ext cx="1106424" cy="653796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87068" y="3760012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71039" y="3760012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49170" y="4061764"/>
            <a:ext cx="140817" cy="110642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119579" y="4172407"/>
            <a:ext cx="0" cy="130759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586484" y="4514392"/>
            <a:ext cx="1005840" cy="1056132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84732" y="4695444"/>
            <a:ext cx="422452" cy="452628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55724" y="5409590"/>
            <a:ext cx="452628" cy="241401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90572" y="5409590"/>
            <a:ext cx="452628" cy="241401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04934" y="2212848"/>
            <a:ext cx="482803" cy="12271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78847" y="2162556"/>
            <a:ext cx="482803" cy="12874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25635" y="2414016"/>
            <a:ext cx="231343" cy="78455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99548" y="2363724"/>
            <a:ext cx="231343" cy="80467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64700" y="3067812"/>
            <a:ext cx="1357884" cy="11567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76511" y="352044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69956" y="352044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45752" y="380207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90073" y="380207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68204" y="3781958"/>
            <a:ext cx="130759" cy="10058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9858146" y="389260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28555" y="389260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496044" y="4144060"/>
            <a:ext cx="945489" cy="1146657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27387" y="4325112"/>
            <a:ext cx="482803" cy="66385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45168" y="506943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9898" y="506943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04350" y="4375404"/>
            <a:ext cx="382219" cy="5532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ular Callout 33"/>
          <p:cNvSpPr/>
          <p:nvPr/>
        </p:nvSpPr>
        <p:spPr>
          <a:xfrm>
            <a:off x="3840480" y="2194560"/>
            <a:ext cx="4480560" cy="205740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2468879"/>
            <a:ext cx="3931920" cy="1600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800" b="0">
                <a:solidFill>
                  <a:srgbClr val="234747"/>
                </a:solidFill>
                <a:latin typeface="Noto Sans CJK SC"/>
              </a:defRPr>
            </a:pPr>
            <a:r>
              <a:t>“你好！”</a:t>
            </a:r>
          </a:p>
          <a:p>
            <a:pPr>
              <a:spcAft>
                <a:spcPts val="800"/>
              </a:spcAft>
              <a:defRPr sz="3800" b="0">
                <a:solidFill>
                  <a:srgbClr val="234747"/>
                </a:solidFill>
                <a:latin typeface="Noto Sans CJK SC"/>
              </a:defRPr>
            </a:pPr>
            <a:r>
              <a:t>是谁在说话？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音色：声音自己的特色</a:t>
            </a:r>
          </a:p>
        </p:txBody>
      </p:sp>
      <p:sp>
        <p:nvSpPr>
          <p:cNvPr id="3" name="Oval 2"/>
          <p:cNvSpPr/>
          <p:nvPr/>
        </p:nvSpPr>
        <p:spPr>
          <a:xfrm>
            <a:off x="1975104" y="4521708"/>
            <a:ext cx="804672" cy="1056132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77440" y="4541824"/>
            <a:ext cx="372160" cy="452628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029614" y="3113532"/>
            <a:ext cx="653796" cy="724204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723644" y="3113532"/>
            <a:ext cx="653796" cy="724204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" y="3576218"/>
            <a:ext cx="1508760" cy="1307592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0548" y="4089196"/>
            <a:ext cx="1106424" cy="653796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1308" y="3988612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05279" y="3988612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83410" y="4290364"/>
            <a:ext cx="140817" cy="110642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753819" y="4401007"/>
            <a:ext cx="0" cy="130759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220724" y="4742992"/>
            <a:ext cx="1005840" cy="1056132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8971" y="4924044"/>
            <a:ext cx="422452" cy="452628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9964" y="5638190"/>
            <a:ext cx="452628" cy="241401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24812" y="5638190"/>
            <a:ext cx="452628" cy="241401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90740" y="2472537"/>
            <a:ext cx="491581" cy="12494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76906" y="2421331"/>
            <a:ext cx="491581" cy="13108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3635" y="2677363"/>
            <a:ext cx="235549" cy="798819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99801" y="2626156"/>
            <a:ext cx="235549" cy="81930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49775" y="3343046"/>
            <a:ext cx="1382572" cy="11777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67255" y="3803904"/>
            <a:ext cx="102412" cy="14337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71490" y="3803904"/>
            <a:ext cx="102412" cy="14337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34118" y="4090659"/>
            <a:ext cx="235549" cy="12289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91973" y="4090659"/>
            <a:ext cx="235549" cy="12289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64252" y="4070177"/>
            <a:ext cx="133136" cy="10241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10054010" y="4182831"/>
            <a:ext cx="71689" cy="102413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25699" y="4182831"/>
            <a:ext cx="71689" cy="102413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685324" y="4438863"/>
            <a:ext cx="962680" cy="1167505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20874" y="4623206"/>
            <a:ext cx="491581" cy="67592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31705" y="5381061"/>
            <a:ext cx="491581" cy="24579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61249" y="5381061"/>
            <a:ext cx="491581" cy="24579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88327" y="4674412"/>
            <a:ext cx="389168" cy="5632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ular Callout 33"/>
          <p:cNvSpPr/>
          <p:nvPr/>
        </p:nvSpPr>
        <p:spPr>
          <a:xfrm>
            <a:off x="3246120" y="2048256"/>
            <a:ext cx="5577840" cy="269748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39" y="2322576"/>
            <a:ext cx="5029200" cy="2240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300" b="0">
                <a:solidFill>
                  <a:srgbClr val="234747"/>
                </a:solidFill>
                <a:latin typeface="Noto Sans CJK SC"/>
              </a:defRPr>
            </a:pPr>
            <a:r>
              <a:t>同样说“你好”，</a:t>
            </a:r>
          </a:p>
          <a:p>
            <a:pPr>
              <a:spcAft>
                <a:spcPts val="800"/>
              </a:spcAft>
              <a:defRPr sz="3300" b="0">
                <a:solidFill>
                  <a:srgbClr val="234747"/>
                </a:solidFill>
                <a:latin typeface="Noto Sans CJK SC"/>
              </a:defRPr>
            </a:pPr>
            <a:r>
              <a:t>声音也有自己的特色。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5495544"/>
            <a:ext cx="699516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87F7B"/>
                </a:solidFill>
                <a:latin typeface="Noto Sans CJK SC"/>
              </a:defRPr>
            </a:pPr>
            <a:r>
              <a:t>这份特色，叫作“音色”。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给声音找朋友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3017520" cy="1874519"/>
          </a:xfrm>
          <a:prstGeom prst="roundRect">
            <a:avLst>
              <a:gd name="adj" fmla="val 16000"/>
            </a:avLst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651760"/>
            <a:ext cx="2468879" cy="14173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响度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响不响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017520" cy="1874519"/>
          </a:xfrm>
          <a:prstGeom prst="roundRect">
            <a:avLst>
              <a:gd name="adj" fmla="val 16000"/>
            </a:avLst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651760"/>
            <a:ext cx="2468879" cy="14173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音调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高不高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286000"/>
            <a:ext cx="3017520" cy="1874519"/>
          </a:xfrm>
          <a:prstGeom prst="roundRect">
            <a:avLst>
              <a:gd name="adj" fmla="val 16000"/>
            </a:avLst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651760"/>
            <a:ext cx="2468879" cy="14173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音色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声音的特色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029200"/>
            <a:ext cx="992124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0">
                <a:solidFill>
                  <a:srgbClr val="234747"/>
                </a:solidFill>
                <a:latin typeface="Noto Sans CJK SC"/>
              </a:defRPr>
            </a:pPr>
            <a:r>
              <a:t>“更响了”   “更高了”   “我认出了你”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不大喊，也能让小兔听清吗？</a:t>
            </a:r>
          </a:p>
        </p:txBody>
      </p:sp>
      <p:sp>
        <p:nvSpPr>
          <p:cNvPr id="3" name="Oval 2"/>
          <p:cNvSpPr/>
          <p:nvPr/>
        </p:nvSpPr>
        <p:spPr>
          <a:xfrm>
            <a:off x="1508760" y="4206240"/>
            <a:ext cx="731520" cy="96012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74519" y="4224528"/>
            <a:ext cx="338328" cy="41148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649224" y="2926080"/>
            <a:ext cx="594360" cy="658368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280160" y="2926080"/>
            <a:ext cx="594360" cy="658368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3346704"/>
            <a:ext cx="1371600" cy="118872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3813048"/>
            <a:ext cx="1005840" cy="59436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721608"/>
            <a:ext cx="91440" cy="1280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36192" y="3721608"/>
            <a:ext cx="91440" cy="1280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3995928"/>
            <a:ext cx="128016" cy="100584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307592" y="4096512"/>
            <a:ext cx="0" cy="118871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2960" y="4407408"/>
            <a:ext cx="914400" cy="960120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" y="4572000"/>
            <a:ext cx="384048" cy="41148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5221224"/>
            <a:ext cx="411480" cy="2194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" y="5221224"/>
            <a:ext cx="411480" cy="2194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69013" y="2291486"/>
            <a:ext cx="452079" cy="114903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00040" y="2244394"/>
            <a:ext cx="452079" cy="1205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82032" y="2479852"/>
            <a:ext cx="216621" cy="73462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13060" y="2432761"/>
            <a:ext cx="216621" cy="75346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31339" y="3092043"/>
            <a:ext cx="1271473" cy="108310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23307" y="3515868"/>
            <a:ext cx="94183" cy="13185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78988" y="3515868"/>
            <a:ext cx="94183" cy="13185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00869" y="3779580"/>
            <a:ext cx="216621" cy="113019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97825" y="3779580"/>
            <a:ext cx="216621" cy="113019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96439" y="3760744"/>
            <a:ext cx="122438" cy="94183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10087020" y="3864345"/>
            <a:ext cx="65928" cy="941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52948" y="3864345"/>
            <a:ext cx="65929" cy="941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747961" y="4099803"/>
            <a:ext cx="885322" cy="107368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64582" y="4269333"/>
            <a:ext cx="452079" cy="621609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06686" y="4966289"/>
            <a:ext cx="452079" cy="2260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69570" y="4966289"/>
            <a:ext cx="452079" cy="2260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67355" y="3704234"/>
            <a:ext cx="254294" cy="86648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80360" y="3172968"/>
            <a:ext cx="1005840" cy="685800"/>
          </a:xfrm>
          <a:prstGeom prst="rect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rapezoid 34"/>
          <p:cNvSpPr/>
          <p:nvPr/>
        </p:nvSpPr>
        <p:spPr>
          <a:xfrm rot="16200000">
            <a:off x="3931920" y="2514600"/>
            <a:ext cx="2194560" cy="1920240"/>
          </a:xfrm>
          <a:prstGeom prst="trapezoid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629400" y="3319272"/>
            <a:ext cx="173736" cy="17373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14616" y="3319272"/>
            <a:ext cx="173736" cy="17373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99831" y="3319272"/>
            <a:ext cx="173736" cy="17373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5239512"/>
            <a:ext cx="62179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187F7B"/>
                </a:solidFill>
                <a:latin typeface="Noto Sans CJK SC"/>
              </a:defRPr>
            </a:pPr>
            <a:r>
              <a:t>改变方向，也是一个办法。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有电？没电？找不同！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606040"/>
            <a:ext cx="3246120" cy="2011680"/>
          </a:xfrm>
          <a:prstGeom prst="roundRect">
            <a:avLst>
              <a:gd name="adj" fmla="val 16000"/>
            </a:avLst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57400" y="2971800"/>
            <a:ext cx="1325880" cy="1325880"/>
          </a:xfrm>
          <a:prstGeom prst="ellipse">
            <a:avLst/>
          </a:prstGeom>
          <a:solidFill>
            <a:srgbClr val="CFE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8880" y="3383280"/>
            <a:ext cx="502920" cy="502920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4709160"/>
            <a:ext cx="822960" cy="438912"/>
          </a:xfrm>
          <a:prstGeom prst="rect">
            <a:avLst/>
          </a:prstGeom>
          <a:solidFill>
            <a:srgbClr val="FFD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4828032"/>
            <a:ext cx="128016" cy="182880"/>
          </a:xfrm>
          <a:prstGeom prst="rect">
            <a:avLst/>
          </a:prstGeom>
          <a:solidFill>
            <a:srgbClr val="FFD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940090"/>
            <a:ext cx="4846320" cy="32064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7320" y="5623560"/>
            <a:ext cx="4389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547EC3"/>
                </a:solidFill>
                <a:latin typeface="Noto Sans CJK SC"/>
              </a:defRPr>
            </a:pPr>
            <a:r>
              <a:t>电子扩音器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5623560"/>
            <a:ext cx="4389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87F7B"/>
                </a:solidFill>
                <a:latin typeface="Noto Sans CJK SC"/>
              </a:defRPr>
            </a:pPr>
            <a:r>
              <a:t>今天的纸杯装置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电子扩音器，为什么能扩音？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377440"/>
            <a:ext cx="3035808" cy="2148840"/>
          </a:xfrm>
          <a:prstGeom prst="roundRect">
            <a:avLst>
              <a:gd name="adj" fmla="val 16000"/>
            </a:avLst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0"/>
            <a:ext cx="2487168" cy="1691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麦克风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接收声音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59352" y="3163824"/>
            <a:ext cx="530352" cy="329184"/>
          </a:xfrm>
          <a:prstGeom prst="rightArrow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2377440"/>
            <a:ext cx="3035808" cy="2148840"/>
          </a:xfrm>
          <a:prstGeom prst="roundRect">
            <a:avLst>
              <a:gd name="adj" fmla="val 16000"/>
            </a:avLst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2743200"/>
            <a:ext cx="2487168" cy="1691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电路用电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放大信号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708392" y="3163824"/>
            <a:ext cx="530352" cy="329184"/>
          </a:xfrm>
          <a:prstGeom prst="rightArrow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59" y="2377440"/>
            <a:ext cx="3035808" cy="2148840"/>
          </a:xfrm>
          <a:prstGeom prst="roundRect">
            <a:avLst>
              <a:gd name="adj" fmla="val 16000"/>
            </a:avLst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743200"/>
            <a:ext cx="2487168" cy="1691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扬声器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振动发声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5596128"/>
            <a:ext cx="832104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0">
                <a:solidFill>
                  <a:srgbClr val="234747"/>
                </a:solidFill>
                <a:latin typeface="Noto Sans CJK SC"/>
              </a:defRPr>
            </a:pPr>
            <a:r>
              <a:t>电源提供能量，声音不是凭空变大。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纸杯装置，可能怎样改变声音？</a:t>
            </a:r>
          </a:p>
        </p:txBody>
      </p:sp>
      <p:pic>
        <p:nvPicPr>
          <p:cNvPr id="3" name="Picture 2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787733"/>
            <a:ext cx="6675120" cy="44163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54112" y="2176272"/>
            <a:ext cx="3886200" cy="2468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87F7B"/>
                </a:solidFill>
                <a:latin typeface="Noto Sans CJK SC"/>
              </a:defRPr>
            </a:pPr>
            <a:r>
              <a:t>纸杯、弹簧和筒内空气，</a:t>
            </a:r>
          </a:p>
          <a:p>
            <a:pPr>
              <a:spcAft>
                <a:spcPts val="800"/>
              </a:spcAft>
              <a:defRPr sz="2900" b="1">
                <a:solidFill>
                  <a:srgbClr val="187F7B"/>
                </a:solidFill>
                <a:latin typeface="Noto Sans CJK SC"/>
              </a:defRPr>
            </a:pPr>
            <a:r>
              <a:t>可能一起影响声音。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54112" y="5074920"/>
            <a:ext cx="38862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0">
                <a:solidFill>
                  <a:srgbClr val="234747"/>
                </a:solidFill>
                <a:latin typeface="Noto Sans CJK SC"/>
              </a:defRPr>
            </a:pPr>
            <a:r>
              <a:t>会更响吗？</a:t>
            </a:r>
          </a:p>
          <a:p>
            <a:pPr>
              <a:spcAft>
                <a:spcPts val="800"/>
              </a:spcAft>
              <a:defRPr sz="2900" b="0">
                <a:solidFill>
                  <a:srgbClr val="234747"/>
                </a:solidFill>
                <a:latin typeface="Noto Sans CJK SC"/>
              </a:defRPr>
            </a:pPr>
            <a:r>
              <a:t>用比较来验证。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先猜一猜，再去验证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194560"/>
            <a:ext cx="3063240" cy="306324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3319272"/>
            <a:ext cx="2697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FFFFFF"/>
                </a:solidFill>
                <a:latin typeface="Noto Sans CJK SC"/>
              </a:defRPr>
            </a:pPr>
            <a:r>
              <a:t>更响？</a:t>
            </a:r>
          </a:p>
        </p:txBody>
      </p:sp>
      <p:sp>
        <p:nvSpPr>
          <p:cNvPr id="5" name="Oval 4"/>
          <p:cNvSpPr/>
          <p:nvPr/>
        </p:nvSpPr>
        <p:spPr>
          <a:xfrm>
            <a:off x="4617720" y="2194560"/>
            <a:ext cx="3063240" cy="3063240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3319272"/>
            <a:ext cx="2697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FFFFFF"/>
                </a:solidFill>
                <a:latin typeface="Noto Sans CJK SC"/>
              </a:defRPr>
            </a:pPr>
            <a:r>
              <a:t>声音不同？</a:t>
            </a:r>
          </a:p>
        </p:txBody>
      </p:sp>
      <p:sp>
        <p:nvSpPr>
          <p:cNvPr id="7" name="Oval 6"/>
          <p:cNvSpPr/>
          <p:nvPr/>
        </p:nvSpPr>
        <p:spPr>
          <a:xfrm>
            <a:off x="8321040" y="2194560"/>
            <a:ext cx="3063240" cy="3063240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3319272"/>
            <a:ext cx="2697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FFFFFF"/>
                </a:solidFill>
                <a:latin typeface="Noto Sans CJK SC"/>
              </a:defRPr>
            </a:pPr>
            <a:r>
              <a:t>没有变化？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5669280"/>
            <a:ext cx="73152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100" b="0">
                <a:solidFill>
                  <a:srgbClr val="234747"/>
                </a:solidFill>
                <a:latin typeface="Noto Sans CJK SC"/>
              </a:defRPr>
            </a:pPr>
            <a:r>
              <a:t>你这样猜，是因为什么？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怎样比，才公平？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377440"/>
            <a:ext cx="3017520" cy="1920240"/>
          </a:xfrm>
          <a:prstGeom prst="roundRect">
            <a:avLst>
              <a:gd name="adj" fmla="val 16000"/>
            </a:avLst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2468879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同一个人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377440"/>
            <a:ext cx="3017520" cy="1920240"/>
          </a:xfrm>
          <a:prstGeom prst="roundRect">
            <a:avLst>
              <a:gd name="adj" fmla="val 16000"/>
            </a:avLst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743200"/>
            <a:ext cx="2468879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同一句话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377440"/>
            <a:ext cx="3017520" cy="1920240"/>
          </a:xfrm>
          <a:prstGeom prst="roundRect">
            <a:avLst>
              <a:gd name="adj" fmla="val 16000"/>
            </a:avLst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743200"/>
            <a:ext cx="2468879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同样位置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303520"/>
            <a:ext cx="92354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0">
                <a:solidFill>
                  <a:srgbClr val="234747"/>
                </a:solidFill>
                <a:latin typeface="Noto Sans CJK SC"/>
              </a:defRPr>
            </a:pPr>
            <a:r>
              <a:t>正常音量，安静听；换个顺序再比较。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材料找朋友</a:t>
            </a:r>
          </a:p>
        </p:txBody>
      </p:sp>
      <p:pic>
        <p:nvPicPr>
          <p:cNvPr id="3" name="Picture 2" descr="sourc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40" y="1691640"/>
            <a:ext cx="734167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1080" y="1920240"/>
            <a:ext cx="2743200" cy="3337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7F7B"/>
                </a:solidFill>
                <a:latin typeface="Noto Sans CJK SC"/>
              </a:defRPr>
            </a:pPr>
            <a:r>
              <a:t>透明筒</a:t>
            </a:r>
          </a:p>
          <a:p>
            <a:pPr>
              <a:spcAft>
                <a:spcPts val="800"/>
              </a:spcAft>
              <a:defRPr sz="3000" b="1">
                <a:solidFill>
                  <a:srgbClr val="187F7B"/>
                </a:solidFill>
                <a:latin typeface="Noto Sans CJK SC"/>
              </a:defRPr>
            </a:pPr>
            <a:r>
              <a:t>弹簧</a:t>
            </a:r>
          </a:p>
          <a:p>
            <a:pPr>
              <a:spcAft>
                <a:spcPts val="800"/>
              </a:spcAft>
              <a:defRPr sz="3000" b="1">
                <a:solidFill>
                  <a:srgbClr val="187F7B"/>
                </a:solidFill>
                <a:latin typeface="Noto Sans CJK SC"/>
              </a:defRPr>
            </a:pPr>
            <a:r>
              <a:t>棉线</a:t>
            </a:r>
          </a:p>
          <a:p>
            <a:pPr>
              <a:spcAft>
                <a:spcPts val="800"/>
              </a:spcAft>
              <a:defRPr sz="3000" b="1">
                <a:solidFill>
                  <a:srgbClr val="187F7B"/>
                </a:solidFill>
                <a:latin typeface="Noto Sans CJK SC"/>
              </a:defRPr>
            </a:pPr>
            <a:r>
              <a:t>小纸杯</a:t>
            </a:r>
          </a:p>
          <a:p>
            <a:pPr>
              <a:spcAft>
                <a:spcPts val="800"/>
              </a:spcAft>
              <a:defRPr sz="3000" b="1">
                <a:solidFill>
                  <a:srgbClr val="187F7B"/>
                </a:solidFill>
                <a:latin typeface="Noto Sans CJK SC"/>
              </a:defRPr>
            </a:pPr>
            <a:r>
              <a:t>大纸杯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小工程师，先守安全约定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48840"/>
            <a:ext cx="3017520" cy="2560320"/>
          </a:xfrm>
          <a:prstGeom prst="roundRect">
            <a:avLst>
              <a:gd name="adj" fmla="val 16000"/>
            </a:avLst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514600"/>
            <a:ext cx="2468879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打孔、剪线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老师来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48840"/>
            <a:ext cx="3017520" cy="2560320"/>
          </a:xfrm>
          <a:prstGeom prst="roundRect">
            <a:avLst>
              <a:gd name="adj" fmla="val 16000"/>
            </a:avLst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514600"/>
            <a:ext cx="2468879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不入口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不猛拉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148840"/>
            <a:ext cx="3017520" cy="2560320"/>
          </a:xfrm>
          <a:prstGeom prst="roundRect">
            <a:avLst>
              <a:gd name="adj" fmla="val 16000"/>
            </a:avLst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514600"/>
            <a:ext cx="2468879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卡住了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举手问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623560"/>
            <a:ext cx="98755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0">
                <a:solidFill>
                  <a:srgbClr val="234747"/>
                </a:solidFill>
                <a:latin typeface="Noto Sans CJK SC"/>
              </a:defRPr>
            </a:pPr>
            <a:r>
              <a:t>细线不缠身体，装置不贴耳。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第1步：固定大纸杯</a:t>
            </a:r>
          </a:p>
        </p:txBody>
      </p:sp>
      <p:pic>
        <p:nvPicPr>
          <p:cNvPr id="3" name="Picture 2" descr="source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32895"/>
            <a:ext cx="7680960" cy="505524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314078" y="180136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34829" y="176250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07347" y="195681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28098" y="191795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82988" y="246202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23933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82504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2892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98049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49332" y="301386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9741560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795967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461754" y="329366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0519" y="3433572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45168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74732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37952" y="2967228"/>
            <a:ext cx="209854" cy="715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983480"/>
            <a:ext cx="333756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87F7B"/>
                </a:solidFill>
                <a:latin typeface="Noto Sans CJK SC"/>
              </a:defRPr>
            </a:pPr>
            <a:r>
              <a:t>轻轻旋转，让弹簧卡住。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第2步：系好棉线</a:t>
            </a:r>
          </a:p>
        </p:txBody>
      </p:sp>
      <p:pic>
        <p:nvPicPr>
          <p:cNvPr id="3" name="Picture 2" descr="sourc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8029"/>
            <a:ext cx="7680960" cy="506498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314078" y="180136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34829" y="176250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07347" y="195681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28098" y="191795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82988" y="246202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23933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82504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2892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98049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49332" y="301386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9741560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795967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461754" y="329366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0519" y="3433572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45168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74732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37952" y="2967228"/>
            <a:ext cx="209854" cy="715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983480"/>
            <a:ext cx="333756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87F7B"/>
                </a:solidFill>
                <a:latin typeface="Noto Sans CJK SC"/>
              </a:defRPr>
            </a:pPr>
            <a:r>
              <a:t>系牢，再轻轻检查。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第3步：套筒、穿线</a:t>
            </a:r>
          </a:p>
        </p:txBody>
      </p:sp>
      <p:pic>
        <p:nvPicPr>
          <p:cNvPr id="3" name="Picture 2" descr="sourc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3735"/>
            <a:ext cx="7680960" cy="5073569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314078" y="180136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34829" y="176250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07347" y="195681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28098" y="191795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82988" y="246202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23933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82504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2892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98049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49332" y="301386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9741560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795967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461754" y="329366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0519" y="3433572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45168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74732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37952" y="2967228"/>
            <a:ext cx="209854" cy="715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983480"/>
            <a:ext cx="333756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87F7B"/>
                </a:solidFill>
                <a:latin typeface="Noto Sans CJK SC"/>
              </a:defRPr>
            </a:pPr>
            <a:r>
              <a:t>看图套好，把线穿过去。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第4步：固定小纸杯</a:t>
            </a:r>
          </a:p>
        </p:txBody>
      </p:sp>
      <p:pic>
        <p:nvPicPr>
          <p:cNvPr id="3" name="Picture 2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19583"/>
            <a:ext cx="7680960" cy="5081872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314078" y="180136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34829" y="176250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07347" y="195681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28098" y="191795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82988" y="246202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23933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82504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2892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98049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49332" y="301386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9741560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795967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461754" y="329366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0519" y="3433572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45168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74732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37952" y="2967228"/>
            <a:ext cx="209854" cy="715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983480"/>
            <a:ext cx="333756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87F7B"/>
                </a:solidFill>
                <a:latin typeface="Noto Sans CJK SC"/>
              </a:defRPr>
            </a:pPr>
            <a:r>
              <a:t>轻轻引导，请老师检查。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试一试：小兔现在听到了什么？</a:t>
            </a:r>
          </a:p>
        </p:txBody>
      </p:sp>
      <p:sp>
        <p:nvSpPr>
          <p:cNvPr id="3" name="Oval 2"/>
          <p:cNvSpPr/>
          <p:nvPr/>
        </p:nvSpPr>
        <p:spPr>
          <a:xfrm>
            <a:off x="1528876" y="4059021"/>
            <a:ext cx="746150" cy="979322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01952" y="4077675"/>
            <a:ext cx="345094" cy="419709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652150" y="2753258"/>
            <a:ext cx="606247" cy="671535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295704" y="2753258"/>
            <a:ext cx="606247" cy="671535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6188" y="3182294"/>
            <a:ext cx="1399032" cy="1212494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1380" y="3657965"/>
            <a:ext cx="1025956" cy="606247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2629" y="3564696"/>
            <a:ext cx="93268" cy="13057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6857" y="3564696"/>
            <a:ext cx="93268" cy="13057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8397" y="3844503"/>
            <a:ext cx="130576" cy="102595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323685" y="3947099"/>
            <a:ext cx="0" cy="121249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9360" y="4264212"/>
            <a:ext cx="932688" cy="979322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9554" y="4432096"/>
            <a:ext cx="391728" cy="419709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8111" y="5094305"/>
            <a:ext cx="419709" cy="223845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82242" y="5094305"/>
            <a:ext cx="419709" cy="223845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54819" y="2112264"/>
            <a:ext cx="460857" cy="11713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98099" y="2064258"/>
            <a:ext cx="460857" cy="12289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0033" y="2304288"/>
            <a:ext cx="220827" cy="748893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3314" y="2256282"/>
            <a:ext cx="220827" cy="76809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16414" y="2928366"/>
            <a:ext cx="1296162" cy="11041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14051" y="3360420"/>
            <a:ext cx="96012" cy="1344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80522" y="3360420"/>
            <a:ext cx="96012" cy="1344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89236" y="3629253"/>
            <a:ext cx="220827" cy="11521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99724" y="3629253"/>
            <a:ext cx="220827" cy="11521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92486" y="3610051"/>
            <a:ext cx="124815" cy="9601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10282885" y="3715664"/>
            <a:ext cx="67208" cy="96012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50093" y="3715664"/>
            <a:ext cx="67209" cy="96012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937242" y="3955694"/>
            <a:ext cx="902512" cy="1094536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58069" y="4128516"/>
            <a:ext cx="460857" cy="633679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93224" y="4839004"/>
            <a:ext cx="460857" cy="2304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70921" y="4839004"/>
            <a:ext cx="460857" cy="2304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72546" y="3552444"/>
            <a:ext cx="259232" cy="8833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851" y="2286000"/>
            <a:ext cx="3869777" cy="2560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788920" y="5623560"/>
            <a:ext cx="8961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547EC3"/>
                </a:solidFill>
                <a:latin typeface="Noto Sans CJK SC"/>
              </a:defRPr>
            </a:pPr>
            <a:r>
              <a:t>直接说 → 用装置说，再换顺序。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回到最初的问题：你发现了什么？</a:t>
            </a:r>
          </a:p>
        </p:txBody>
      </p:sp>
      <p:sp>
        <p:nvSpPr>
          <p:cNvPr id="3" name="Oval 2"/>
          <p:cNvSpPr/>
          <p:nvPr/>
        </p:nvSpPr>
        <p:spPr>
          <a:xfrm>
            <a:off x="1047170" y="2097633"/>
            <a:ext cx="535472" cy="13609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94601" y="2041855"/>
            <a:ext cx="535472" cy="14279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1039" y="2320747"/>
            <a:ext cx="256580" cy="870143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8469" y="2264968"/>
            <a:ext cx="256580" cy="89245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2548" y="3045866"/>
            <a:ext cx="1506016" cy="1282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8374" y="3547872"/>
            <a:ext cx="111556" cy="156179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06559" y="3547872"/>
            <a:ext cx="111556" cy="156179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03350" y="3860231"/>
            <a:ext cx="256580" cy="1338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28870" y="3860231"/>
            <a:ext cx="256580" cy="1338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71888" y="3837919"/>
            <a:ext cx="145023" cy="11155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1660733" y="3960632"/>
            <a:ext cx="78090" cy="11155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38823" y="3960632"/>
            <a:ext cx="78089" cy="11155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259128" y="4239524"/>
            <a:ext cx="1048633" cy="1271747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15709" y="4440326"/>
            <a:ext cx="535472" cy="73627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1793" y="5265846"/>
            <a:ext cx="535472" cy="2677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95403" y="5265846"/>
            <a:ext cx="535472" cy="2677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29672" y="3770985"/>
            <a:ext cx="301203" cy="102632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ular Callout 19"/>
          <p:cNvSpPr/>
          <p:nvPr/>
        </p:nvSpPr>
        <p:spPr>
          <a:xfrm>
            <a:off x="3931920" y="2011680"/>
            <a:ext cx="7040880" cy="320040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286000"/>
            <a:ext cx="6492240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700" b="0">
                <a:solidFill>
                  <a:srgbClr val="234747"/>
                </a:solidFill>
                <a:latin typeface="Noto Sans CJK SC"/>
              </a:defRPr>
            </a:pPr>
            <a:r>
              <a:t>我原来猜……</a:t>
            </a:r>
          </a:p>
          <a:p>
            <a:pPr>
              <a:spcAft>
                <a:spcPts val="800"/>
              </a:spcAft>
              <a:defRPr sz="3700" b="0">
                <a:solidFill>
                  <a:srgbClr val="234747"/>
                </a:solidFill>
                <a:latin typeface="Noto Sans CJK SC"/>
              </a:defRPr>
            </a:pPr>
            <a:r>
              <a:t>我实际听到……</a:t>
            </a:r>
          </a:p>
          <a:p>
            <a:pPr>
              <a:spcAft>
                <a:spcPts val="800"/>
              </a:spcAft>
              <a:defRPr sz="3700" b="0">
                <a:solidFill>
                  <a:srgbClr val="234747"/>
                </a:solidFill>
                <a:latin typeface="Noto Sans CJK SC"/>
              </a:defRPr>
            </a:pPr>
            <a:r>
              <a:t>我还想知道……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把发现带回家，把桌面整理好</a:t>
            </a:r>
          </a:p>
        </p:txBody>
      </p:sp>
      <p:sp>
        <p:nvSpPr>
          <p:cNvPr id="3" name="Oval 2"/>
          <p:cNvSpPr/>
          <p:nvPr/>
        </p:nvSpPr>
        <p:spPr>
          <a:xfrm>
            <a:off x="9875520" y="502920"/>
            <a:ext cx="932688" cy="932688"/>
          </a:xfrm>
          <a:prstGeom prst="ellipse">
            <a:avLst/>
          </a:prstGeom>
          <a:solidFill>
            <a:srgbClr val="FFD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137160" y="1463040"/>
            <a:ext cx="2148840" cy="749808"/>
          </a:xfrm>
          <a:prstGeom prst="cloud">
            <a:avLst/>
          </a:prstGeom>
          <a:solidFill>
            <a:srgbClr val="E8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7772400" y="1417320"/>
            <a:ext cx="1600200" cy="530352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5230368"/>
            <a:ext cx="6949440" cy="1554480"/>
          </a:xfrm>
          <a:prstGeom prst="ellipse">
            <a:avLst/>
          </a:prstGeom>
          <a:solidFill>
            <a:srgbClr val="DEE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35040" y="5230368"/>
            <a:ext cx="6035040" cy="1554480"/>
          </a:xfrm>
          <a:prstGeom prst="ellipse">
            <a:avLst/>
          </a:prstGeom>
          <a:solidFill>
            <a:srgbClr val="CBE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4297680"/>
            <a:ext cx="95097" cy="861822"/>
          </a:xfrm>
          <a:prstGeom prst="rect">
            <a:avLst/>
          </a:prstGeom>
          <a:solidFill>
            <a:srgbClr val="BB8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" y="3429000"/>
            <a:ext cx="725119" cy="903427"/>
          </a:xfrm>
          <a:prstGeom prst="ellipse">
            <a:avLst/>
          </a:prstGeom>
          <a:solidFill>
            <a:srgbClr val="A7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24160" y="4297680"/>
            <a:ext cx="124358" cy="1126998"/>
          </a:xfrm>
          <a:prstGeom prst="rect">
            <a:avLst/>
          </a:prstGeom>
          <a:solidFill>
            <a:srgbClr val="BB8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35540" y="3429000"/>
            <a:ext cx="948232" cy="1181404"/>
          </a:xfrm>
          <a:prstGeom prst="ellipse">
            <a:avLst/>
          </a:prstGeom>
          <a:solidFill>
            <a:srgbClr val="A7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20240" y="4709160"/>
            <a:ext cx="731520" cy="96012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0" y="4727448"/>
            <a:ext cx="338328" cy="41148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1060704" y="3429000"/>
            <a:ext cx="594360" cy="658368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691640" y="3429000"/>
            <a:ext cx="594360" cy="658368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3849624"/>
            <a:ext cx="1371600" cy="118872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07008" y="4315968"/>
            <a:ext cx="1005840" cy="59436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25880" y="4224528"/>
            <a:ext cx="91440" cy="1280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47672" y="4224528"/>
            <a:ext cx="91440" cy="1280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55064" y="4498848"/>
            <a:ext cx="128016" cy="100584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719072" y="4599432"/>
            <a:ext cx="0" cy="118872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234440" y="4910328"/>
            <a:ext cx="914400" cy="960120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5074920"/>
            <a:ext cx="384048" cy="41148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5568" y="5724144"/>
            <a:ext cx="411480" cy="2194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74519" y="5724144"/>
            <a:ext cx="411480" cy="2194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04934" y="2807208"/>
            <a:ext cx="482803" cy="12271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78847" y="2756916"/>
            <a:ext cx="482803" cy="12874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25635" y="3008376"/>
            <a:ext cx="231343" cy="78455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99548" y="2958084"/>
            <a:ext cx="231343" cy="80467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64700" y="3662172"/>
            <a:ext cx="1357884" cy="11567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76511" y="411480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69956" y="411480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45752" y="439643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90073" y="439643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68204" y="4376318"/>
            <a:ext cx="130759" cy="10058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9858146" y="448696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928555" y="448696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496044" y="4738420"/>
            <a:ext cx="945489" cy="1146657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27387" y="4919472"/>
            <a:ext cx="482803" cy="66385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45168" y="566379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59898" y="566379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371124" y="4315968"/>
            <a:ext cx="271576" cy="9253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ular Callout 42"/>
          <p:cNvSpPr/>
          <p:nvPr/>
        </p:nvSpPr>
        <p:spPr>
          <a:xfrm>
            <a:off x="3017520" y="1920240"/>
            <a:ext cx="5577840" cy="196596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39" y="2194560"/>
            <a:ext cx="5029200" cy="1508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300" b="0">
                <a:solidFill>
                  <a:srgbClr val="234747"/>
                </a:solidFill>
                <a:latin typeface="Noto Sans CJK SC"/>
              </a:defRPr>
            </a:pPr>
            <a:r>
              <a:t>收好材料，洗洗手。</a:t>
            </a:r>
          </a:p>
          <a:p>
            <a:pPr>
              <a:spcAft>
                <a:spcPts val="800"/>
              </a:spcAft>
              <a:defRPr sz="3300" b="0">
                <a:solidFill>
                  <a:srgbClr val="234747"/>
                </a:solidFill>
                <a:latin typeface="Noto Sans CJK SC"/>
              </a:defRPr>
            </a:pPr>
            <a:r>
              <a:t>下次继续当声音侦探！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