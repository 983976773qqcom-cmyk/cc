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315200" cy="1097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提供的1024×1536参考图逐项复刻。所有文字、框、圆、菱形、连线均为原生可编辑对象。严格保留参考图的重新选择→持续参与及重新选择→游戏接触与选择两条路径，不沿用前一轮修订的路径删减。中文采用Noto Serif CJK SC宋体风格，已明确设置东亚字体；不同软件的字体渲染可能产生细微差异。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5843" y="357187"/>
            <a:ext cx="5243512" cy="85725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7281" y="442912"/>
            <a:ext cx="5100637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现实选择条件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8712" y="821531"/>
            <a:ext cx="505777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他人参与与引介｜成人支持与调节｜游戏资源可获得性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0" y="1214437"/>
            <a:ext cx="0" cy="314325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28862" y="1528762"/>
            <a:ext cx="2657475" cy="542925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64581" y="1543050"/>
            <a:ext cx="2586037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68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游戏接触与选择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414587" y="2071687"/>
            <a:ext cx="685800" cy="435769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14812" y="2071687"/>
            <a:ext cx="692944" cy="435769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42975" y="2514600"/>
            <a:ext cx="2450306" cy="55006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693" y="2528887"/>
            <a:ext cx="2378868" cy="52149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68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线上游戏参与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21918" y="2514600"/>
            <a:ext cx="2450306" cy="55006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7637" y="2528887"/>
            <a:ext cx="2378868" cy="52149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68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线下游戏参与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78843" y="3064668"/>
            <a:ext cx="0" cy="207169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36356" y="3064668"/>
            <a:ext cx="0" cy="207169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78843" y="3271837"/>
            <a:ext cx="2957513" cy="0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0" y="3271837"/>
            <a:ext cx="0" cy="285750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243137" y="3557587"/>
            <a:ext cx="2828925" cy="542925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78856" y="3571875"/>
            <a:ext cx="2757487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68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游戏体验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0" y="4100512"/>
            <a:ext cx="0" cy="342900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928812" y="4443412"/>
            <a:ext cx="3457575" cy="1257300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8825" y="4536281"/>
            <a:ext cx="3257550" cy="38576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1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体验匹配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21693" y="4957762"/>
            <a:ext cx="3071813" cy="0"/>
          </a:xfrm>
          <a:prstGeom prst="line">
            <a:avLst/>
          </a:prstGeom>
          <a:ln w="1000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035968" y="5029200"/>
            <a:ext cx="3243262" cy="27860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游戏体验 × 当前体验诉求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35968" y="5329237"/>
            <a:ext cx="3243262" cy="27146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关系｜自主｜挑战｜角色｜创造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57600" y="5700712"/>
            <a:ext cx="0" cy="235744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iamond 26"/>
          <p:cNvSpPr/>
          <p:nvPr/>
        </p:nvSpPr>
        <p:spPr>
          <a:xfrm>
            <a:off x="2700337" y="5936456"/>
            <a:ext cx="1914525" cy="800100"/>
          </a:xfrm>
          <a:prstGeom prst="diamond">
            <a:avLst/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36056" y="5950743"/>
            <a:ext cx="1843087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43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体验反馈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207418" y="6336506"/>
            <a:ext cx="492919" cy="0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207418" y="6336506"/>
            <a:ext cx="0" cy="521494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614862" y="6336506"/>
            <a:ext cx="864394" cy="0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479256" y="6336506"/>
            <a:ext cx="0" cy="521494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378743" y="6858000"/>
            <a:ext cx="1714500" cy="50006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14462" y="6872287"/>
            <a:ext cx="1643062" cy="47148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积极反馈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43437" y="6858000"/>
            <a:ext cx="1650206" cy="50006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79156" y="6872287"/>
            <a:ext cx="1578768" cy="47148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反馈不足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214562" y="7358062"/>
            <a:ext cx="0" cy="392906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479256" y="7358062"/>
            <a:ext cx="0" cy="392906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371600" y="7750968"/>
            <a:ext cx="1507331" cy="50006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07318" y="7765256"/>
            <a:ext cx="1435893" cy="47148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再次参与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36293" y="7750968"/>
            <a:ext cx="1685925" cy="50006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2012" y="7765256"/>
            <a:ext cx="1614487" cy="47148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重新选择</a:t>
            </a:r>
          </a:p>
        </p:txBody>
      </p:sp>
      <p:sp>
        <p:nvSpPr>
          <p:cNvPr id="43" name="Oval 42"/>
          <p:cNvSpPr/>
          <p:nvPr/>
        </p:nvSpPr>
        <p:spPr>
          <a:xfrm>
            <a:off x="3136106" y="7465218"/>
            <a:ext cx="1057275" cy="105727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71825" y="7479506"/>
            <a:ext cx="985837" cy="1028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31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持续参与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878931" y="8001000"/>
            <a:ext cx="257175" cy="0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4193381" y="8001000"/>
            <a:ext cx="442912" cy="0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322218" y="8001000"/>
            <a:ext cx="464344" cy="0"/>
          </a:xfrm>
          <a:prstGeom prst="line">
            <a:avLst/>
          </a:prstGeom>
          <a:ln w="20002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786562" y="1793081"/>
            <a:ext cx="0" cy="6207919"/>
          </a:xfrm>
          <a:prstGeom prst="line">
            <a:avLst/>
          </a:prstGeom>
          <a:ln w="20002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4986337" y="1793081"/>
            <a:ext cx="1800225" cy="0"/>
          </a:xfrm>
          <a:prstGeom prst="line">
            <a:avLst/>
          </a:prstGeom>
          <a:ln w="20002">
            <a:solidFill>
              <a:srgbClr val="000000"/>
            </a:solidFill>
            <a:prstDash val="dash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657600" y="8522493"/>
            <a:ext cx="0" cy="271463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428875" y="8793956"/>
            <a:ext cx="2457450" cy="50006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64593" y="8808243"/>
            <a:ext cx="2386012" cy="47148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相对稳定偏好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657600" y="9294018"/>
            <a:ext cx="0" cy="157163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135981" y="9451181"/>
            <a:ext cx="3043237" cy="0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135981" y="9451181"/>
            <a:ext cx="0" cy="242887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179218" y="9451181"/>
            <a:ext cx="0" cy="242887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1021556" y="9694068"/>
            <a:ext cx="2235993" cy="50006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7275" y="9708356"/>
            <a:ext cx="2164556" cy="47148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2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偏好线上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64793" y="9694068"/>
            <a:ext cx="2235993" cy="50006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00512" y="9708356"/>
            <a:ext cx="2164556" cy="47148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2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偏好线下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2937" y="10358437"/>
            <a:ext cx="6029325" cy="4143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6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图 1  幼儿虚实游戏偏好的形成与分化机制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