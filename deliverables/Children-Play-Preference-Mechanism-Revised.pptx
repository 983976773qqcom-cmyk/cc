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6858000" cy="9601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户合成修订版：体验匹配之前采用参考图1；体验匹配之后采用参考图2的反馈分支与持续参与循环。反馈不足→再次选择→游戏接触与选择，右侧虚线直接回到选择节点，不连接持续参与。积极反馈分支的再次选择与反馈不足分支的再次选择是不同情境下的同名行为。图中箭头表示质性归纳的过程联系，非已检验因果效应；乘号表示体验与当前体验诉求的匹配。建议正文图注：图1 幼儿虚实游戏偏好的形成与分化机制。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11480" y="292608"/>
            <a:ext cx="5715000" cy="877824"/>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347472"/>
            <a:ext cx="5440680" cy="320040"/>
          </a:xfrm>
          <a:prstGeom prst="rect">
            <a:avLst/>
          </a:prstGeom>
          <a:noFill/>
          <a:effectLst/>
        </p:spPr>
        <p:txBody>
          <a:bodyPr wrap="none" lIns="22860" rIns="22860" tIns="0" bIns="0" anchor="ctr">
            <a:spAutoFit/>
          </a:bodyPr>
          <a:lstStyle/>
          <a:p>
            <a:pPr algn="ctr">
              <a:spcAft>
                <a:spcPts val="0"/>
              </a:spcAft>
              <a:defRPr sz="1900" b="1">
                <a:solidFill>
                  <a:srgbClr val="111111"/>
                </a:solidFill>
                <a:latin typeface="Noto Serif CJK SC"/>
              </a:defRPr>
            </a:pPr>
            <a:r>
              <a:t>现实选择条件</a:t>
            </a:r>
          </a:p>
        </p:txBody>
      </p:sp>
      <p:sp>
        <p:nvSpPr>
          <p:cNvPr id="4" name="TextBox 3"/>
          <p:cNvSpPr txBox="1"/>
          <p:nvPr/>
        </p:nvSpPr>
        <p:spPr>
          <a:xfrm>
            <a:off x="548640" y="777240"/>
            <a:ext cx="5440680" cy="274320"/>
          </a:xfrm>
          <a:prstGeom prst="rect">
            <a:avLst/>
          </a:prstGeom>
          <a:noFill/>
          <a:effectLst/>
        </p:spPr>
        <p:txBody>
          <a:bodyPr wrap="none" lIns="22860" rIns="22860" tIns="0" bIns="0" anchor="ctr">
            <a:spAutoFit/>
          </a:bodyPr>
          <a:lstStyle/>
          <a:p>
            <a:pPr algn="ctr">
              <a:spcAft>
                <a:spcPts val="0"/>
              </a:spcAft>
              <a:defRPr sz="1250" b="0">
                <a:solidFill>
                  <a:srgbClr val="111111"/>
                </a:solidFill>
                <a:latin typeface="Noto Serif CJK SC"/>
              </a:defRPr>
            </a:pPr>
            <a:r>
              <a:t>他人参与与引介｜成人支持与调节｜游戏资源可获得性</a:t>
            </a:r>
          </a:p>
        </p:txBody>
      </p:sp>
      <p:cxnSp>
        <p:nvCxnSpPr>
          <p:cNvPr id="5" name="Connector 4"/>
          <p:cNvCxnSpPr/>
          <p:nvPr/>
        </p:nvCxnSpPr>
        <p:spPr>
          <a:xfrm>
            <a:off x="3268980" y="1170432"/>
            <a:ext cx="0" cy="320040"/>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 name="Rounded Rectangle 5"/>
          <p:cNvSpPr/>
          <p:nvPr/>
        </p:nvSpPr>
        <p:spPr>
          <a:xfrm>
            <a:off x="1965960" y="1490472"/>
            <a:ext cx="2606040" cy="512064"/>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993391" y="1508760"/>
            <a:ext cx="2551176" cy="475488"/>
          </a:xfrm>
          <a:prstGeom prst="rect">
            <a:avLst/>
          </a:prstGeom>
          <a:noFill/>
          <a:effectLst/>
        </p:spPr>
        <p:txBody>
          <a:bodyPr wrap="none" lIns="22860" rIns="22860" tIns="0" bIns="0" anchor="ctr">
            <a:spAutoFit/>
          </a:bodyPr>
          <a:lstStyle/>
          <a:p>
            <a:pPr algn="ctr">
              <a:spcAft>
                <a:spcPts val="0"/>
              </a:spcAft>
              <a:defRPr sz="1700" b="1">
                <a:solidFill>
                  <a:srgbClr val="111111"/>
                </a:solidFill>
                <a:latin typeface="Noto Serif CJK SC"/>
              </a:defRPr>
            </a:pPr>
            <a:r>
              <a:t>游戏接触与选择</a:t>
            </a:r>
          </a:p>
        </p:txBody>
      </p:sp>
      <p:cxnSp>
        <p:nvCxnSpPr>
          <p:cNvPr id="8" name="Connector 7"/>
          <p:cNvCxnSpPr/>
          <p:nvPr/>
        </p:nvCxnSpPr>
        <p:spPr>
          <a:xfrm flipH="1">
            <a:off x="1874519" y="2002536"/>
            <a:ext cx="850393" cy="438912"/>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a:off x="3813048" y="2002536"/>
            <a:ext cx="850392" cy="438912"/>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0" name="Rounded Rectangle 9"/>
          <p:cNvSpPr/>
          <p:nvPr/>
        </p:nvSpPr>
        <p:spPr>
          <a:xfrm>
            <a:off x="594360" y="2441448"/>
            <a:ext cx="2560320" cy="530352"/>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21792" y="2459736"/>
            <a:ext cx="2505456" cy="493775"/>
          </a:xfrm>
          <a:prstGeom prst="rect">
            <a:avLst/>
          </a:prstGeom>
          <a:noFill/>
          <a:effectLst/>
        </p:spPr>
        <p:txBody>
          <a:bodyPr wrap="none" lIns="22860" rIns="22860" tIns="0" bIns="0" anchor="ctr">
            <a:spAutoFit/>
          </a:bodyPr>
          <a:lstStyle/>
          <a:p>
            <a:pPr algn="ctr">
              <a:spcAft>
                <a:spcPts val="0"/>
              </a:spcAft>
              <a:defRPr sz="1700" b="1">
                <a:solidFill>
                  <a:srgbClr val="111111"/>
                </a:solidFill>
                <a:latin typeface="Noto Serif CJK SC"/>
              </a:defRPr>
            </a:pPr>
            <a:r>
              <a:t>线上游戏参与</a:t>
            </a:r>
          </a:p>
        </p:txBody>
      </p:sp>
      <p:sp>
        <p:nvSpPr>
          <p:cNvPr id="12" name="Rounded Rectangle 11"/>
          <p:cNvSpPr/>
          <p:nvPr/>
        </p:nvSpPr>
        <p:spPr>
          <a:xfrm>
            <a:off x="3383280" y="2441448"/>
            <a:ext cx="2560320" cy="530352"/>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410712" y="2459736"/>
            <a:ext cx="2505456" cy="493775"/>
          </a:xfrm>
          <a:prstGeom prst="rect">
            <a:avLst/>
          </a:prstGeom>
          <a:noFill/>
          <a:effectLst/>
        </p:spPr>
        <p:txBody>
          <a:bodyPr wrap="none" lIns="22860" rIns="22860" tIns="0" bIns="0" anchor="ctr">
            <a:spAutoFit/>
          </a:bodyPr>
          <a:lstStyle/>
          <a:p>
            <a:pPr algn="ctr">
              <a:spcAft>
                <a:spcPts val="0"/>
              </a:spcAft>
              <a:defRPr sz="1700" b="1">
                <a:solidFill>
                  <a:srgbClr val="111111"/>
                </a:solidFill>
                <a:latin typeface="Noto Serif CJK SC"/>
              </a:defRPr>
            </a:pPr>
            <a:r>
              <a:t>线下游戏参与</a:t>
            </a:r>
          </a:p>
        </p:txBody>
      </p:sp>
      <p:cxnSp>
        <p:nvCxnSpPr>
          <p:cNvPr id="14" name="Connector 13"/>
          <p:cNvCxnSpPr/>
          <p:nvPr/>
        </p:nvCxnSpPr>
        <p:spPr>
          <a:xfrm>
            <a:off x="1874519" y="2971800"/>
            <a:ext cx="0" cy="210312"/>
          </a:xfrm>
          <a:prstGeom prst="line">
            <a:avLst/>
          </a:prstGeom>
          <a:ln w="13970">
            <a:solidFill>
              <a:srgbClr val="222222"/>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4663440" y="2971800"/>
            <a:ext cx="0" cy="210312"/>
          </a:xfrm>
          <a:prstGeom prst="line">
            <a:avLst/>
          </a:prstGeom>
          <a:ln w="13970">
            <a:solidFill>
              <a:srgbClr val="222222"/>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874519" y="3182112"/>
            <a:ext cx="2788921" cy="0"/>
          </a:xfrm>
          <a:prstGeom prst="line">
            <a:avLst/>
          </a:prstGeom>
          <a:ln w="13970">
            <a:solidFill>
              <a:srgbClr val="222222"/>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3268980" y="3182112"/>
            <a:ext cx="0" cy="283464"/>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8" name="Rounded Rectangle 17"/>
          <p:cNvSpPr/>
          <p:nvPr/>
        </p:nvSpPr>
        <p:spPr>
          <a:xfrm>
            <a:off x="1874519" y="3465576"/>
            <a:ext cx="2788920" cy="539496"/>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901951" y="3483864"/>
            <a:ext cx="2734056" cy="502919"/>
          </a:xfrm>
          <a:prstGeom prst="rect">
            <a:avLst/>
          </a:prstGeom>
          <a:noFill/>
          <a:effectLst/>
        </p:spPr>
        <p:txBody>
          <a:bodyPr wrap="none" lIns="22860" rIns="22860" tIns="0" bIns="0" anchor="ctr">
            <a:spAutoFit/>
          </a:bodyPr>
          <a:lstStyle/>
          <a:p>
            <a:pPr algn="ctr">
              <a:spcAft>
                <a:spcPts val="0"/>
              </a:spcAft>
              <a:defRPr sz="1800" b="1">
                <a:solidFill>
                  <a:srgbClr val="111111"/>
                </a:solidFill>
                <a:latin typeface="Noto Serif CJK SC"/>
              </a:defRPr>
            </a:pPr>
            <a:r>
              <a:t>游戏体验</a:t>
            </a:r>
          </a:p>
        </p:txBody>
      </p:sp>
      <p:cxnSp>
        <p:nvCxnSpPr>
          <p:cNvPr id="20" name="Connector 19"/>
          <p:cNvCxnSpPr/>
          <p:nvPr/>
        </p:nvCxnSpPr>
        <p:spPr>
          <a:xfrm>
            <a:off x="3268980" y="4005072"/>
            <a:ext cx="0" cy="310896"/>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1536192" y="4315968"/>
            <a:ext cx="3465576" cy="1024128"/>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618488" y="4379976"/>
            <a:ext cx="3300984" cy="274320"/>
          </a:xfrm>
          <a:prstGeom prst="rect">
            <a:avLst/>
          </a:prstGeom>
          <a:noFill/>
          <a:effectLst/>
        </p:spPr>
        <p:txBody>
          <a:bodyPr wrap="none" lIns="22860" rIns="22860" tIns="0" bIns="0" anchor="ctr">
            <a:spAutoFit/>
          </a:bodyPr>
          <a:lstStyle/>
          <a:p>
            <a:pPr algn="ctr">
              <a:spcAft>
                <a:spcPts val="0"/>
              </a:spcAft>
              <a:defRPr sz="1800" b="1">
                <a:solidFill>
                  <a:srgbClr val="111111"/>
                </a:solidFill>
                <a:latin typeface="Noto Serif CJK SC"/>
              </a:defRPr>
            </a:pPr>
            <a:r>
              <a:t>体验匹配</a:t>
            </a:r>
          </a:p>
        </p:txBody>
      </p:sp>
      <p:cxnSp>
        <p:nvCxnSpPr>
          <p:cNvPr id="23" name="Connector 22"/>
          <p:cNvCxnSpPr/>
          <p:nvPr/>
        </p:nvCxnSpPr>
        <p:spPr>
          <a:xfrm>
            <a:off x="1719072" y="4718304"/>
            <a:ext cx="3099816" cy="0"/>
          </a:xfrm>
          <a:prstGeom prst="line">
            <a:avLst/>
          </a:prstGeom>
          <a:ln w="13970">
            <a:solidFill>
              <a:srgbClr val="222222"/>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618488" y="4800600"/>
            <a:ext cx="3300984" cy="228600"/>
          </a:xfrm>
          <a:prstGeom prst="rect">
            <a:avLst/>
          </a:prstGeom>
          <a:noFill/>
          <a:effectLst/>
        </p:spPr>
        <p:txBody>
          <a:bodyPr wrap="none" lIns="22860" rIns="22860" tIns="0" bIns="0" anchor="ctr">
            <a:spAutoFit/>
          </a:bodyPr>
          <a:lstStyle/>
          <a:p>
            <a:pPr algn="ctr">
              <a:spcAft>
                <a:spcPts val="0"/>
              </a:spcAft>
              <a:defRPr sz="1400" b="0">
                <a:solidFill>
                  <a:srgbClr val="111111"/>
                </a:solidFill>
                <a:latin typeface="Noto Serif CJK SC"/>
              </a:defRPr>
            </a:pPr>
            <a:r>
              <a:t>游戏体验 × 当前体验诉求</a:t>
            </a:r>
          </a:p>
        </p:txBody>
      </p:sp>
      <p:sp>
        <p:nvSpPr>
          <p:cNvPr id="25" name="TextBox 24"/>
          <p:cNvSpPr txBox="1"/>
          <p:nvPr/>
        </p:nvSpPr>
        <p:spPr>
          <a:xfrm>
            <a:off x="1618488" y="5084064"/>
            <a:ext cx="3300984" cy="201168"/>
          </a:xfrm>
          <a:prstGeom prst="rect">
            <a:avLst/>
          </a:prstGeom>
          <a:noFill/>
          <a:effectLst/>
        </p:spPr>
        <p:txBody>
          <a:bodyPr wrap="none" lIns="22860" rIns="22860" tIns="0" bIns="0" anchor="ctr">
            <a:spAutoFit/>
          </a:bodyPr>
          <a:lstStyle/>
          <a:p>
            <a:pPr algn="ctr">
              <a:spcAft>
                <a:spcPts val="0"/>
              </a:spcAft>
              <a:defRPr sz="1250" b="0">
                <a:solidFill>
                  <a:srgbClr val="111111"/>
                </a:solidFill>
                <a:latin typeface="Noto Serif CJK SC"/>
              </a:defRPr>
            </a:pPr>
            <a:r>
              <a:t>关系｜自主｜挑战｜角色｜创造</a:t>
            </a:r>
          </a:p>
        </p:txBody>
      </p:sp>
      <p:cxnSp>
        <p:nvCxnSpPr>
          <p:cNvPr id="26" name="Connector 25"/>
          <p:cNvCxnSpPr/>
          <p:nvPr/>
        </p:nvCxnSpPr>
        <p:spPr>
          <a:xfrm>
            <a:off x="3268980" y="5340096"/>
            <a:ext cx="0" cy="265176"/>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7" name="Diamond 26"/>
          <p:cNvSpPr/>
          <p:nvPr/>
        </p:nvSpPr>
        <p:spPr>
          <a:xfrm>
            <a:off x="2496312" y="5605272"/>
            <a:ext cx="1545336" cy="548640"/>
          </a:xfrm>
          <a:prstGeom prst="diamond">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2523744" y="5623559"/>
            <a:ext cx="1490472" cy="512063"/>
          </a:xfrm>
          <a:prstGeom prst="rect">
            <a:avLst/>
          </a:prstGeom>
          <a:noFill/>
          <a:effectLst/>
        </p:spPr>
        <p:txBody>
          <a:bodyPr wrap="none" lIns="22860" rIns="22860" tIns="0" bIns="0" anchor="ctr">
            <a:spAutoFit/>
          </a:bodyPr>
          <a:lstStyle/>
          <a:p>
            <a:pPr algn="ctr">
              <a:spcAft>
                <a:spcPts val="0"/>
              </a:spcAft>
              <a:defRPr sz="1400" b="1">
                <a:solidFill>
                  <a:srgbClr val="111111"/>
                </a:solidFill>
                <a:latin typeface="Noto Serif CJK SC"/>
              </a:defRPr>
            </a:pPr>
            <a:r>
              <a:t>体验反馈</a:t>
            </a:r>
          </a:p>
        </p:txBody>
      </p:sp>
      <p:cxnSp>
        <p:nvCxnSpPr>
          <p:cNvPr id="29" name="Connector 28"/>
          <p:cNvCxnSpPr/>
          <p:nvPr/>
        </p:nvCxnSpPr>
        <p:spPr>
          <a:xfrm>
            <a:off x="3268980" y="6153912"/>
            <a:ext cx="0" cy="246888"/>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0" name="Rounded Rectangle 29"/>
          <p:cNvSpPr/>
          <p:nvPr/>
        </p:nvSpPr>
        <p:spPr>
          <a:xfrm>
            <a:off x="2267712" y="6400800"/>
            <a:ext cx="2002536" cy="402336"/>
          </a:xfrm>
          <a:prstGeom prst="roundRect">
            <a:avLst>
              <a:gd name="adj" fmla="val 6500"/>
            </a:avLst>
          </a:prstGeom>
          <a:solidFill>
            <a:srgbClr val="F5F5F5"/>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2295144" y="6419088"/>
            <a:ext cx="1947672" cy="365760"/>
          </a:xfrm>
          <a:prstGeom prst="rect">
            <a:avLst/>
          </a:prstGeom>
          <a:noFill/>
          <a:effectLst/>
        </p:spPr>
        <p:txBody>
          <a:bodyPr wrap="none" lIns="22860" rIns="22860" tIns="0" bIns="0" anchor="ctr">
            <a:spAutoFit/>
          </a:bodyPr>
          <a:lstStyle/>
          <a:p>
            <a:pPr algn="ctr">
              <a:spcAft>
                <a:spcPts val="0"/>
              </a:spcAft>
              <a:defRPr sz="1500" b="1">
                <a:solidFill>
                  <a:srgbClr val="111111"/>
                </a:solidFill>
                <a:latin typeface="Noto Serif CJK SC"/>
              </a:defRPr>
            </a:pPr>
            <a:r>
              <a:t>积极反馈</a:t>
            </a:r>
          </a:p>
        </p:txBody>
      </p:sp>
      <p:cxnSp>
        <p:nvCxnSpPr>
          <p:cNvPr id="32" name="Connector 31"/>
          <p:cNvCxnSpPr/>
          <p:nvPr/>
        </p:nvCxnSpPr>
        <p:spPr>
          <a:xfrm>
            <a:off x="4041648" y="5879592"/>
            <a:ext cx="1508760" cy="0"/>
          </a:xfrm>
          <a:prstGeom prst="line">
            <a:avLst/>
          </a:prstGeom>
          <a:ln w="13970">
            <a:solidFill>
              <a:srgbClr val="222222"/>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a:off x="5550408" y="5879592"/>
            <a:ext cx="0" cy="521208"/>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 name="Rounded Rectangle 33"/>
          <p:cNvSpPr/>
          <p:nvPr/>
        </p:nvSpPr>
        <p:spPr>
          <a:xfrm>
            <a:off x="4809744" y="6400800"/>
            <a:ext cx="1481328" cy="402336"/>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837176" y="6419088"/>
            <a:ext cx="1426464" cy="365760"/>
          </a:xfrm>
          <a:prstGeom prst="rect">
            <a:avLst/>
          </a:prstGeom>
          <a:noFill/>
          <a:effectLst/>
        </p:spPr>
        <p:txBody>
          <a:bodyPr wrap="none" lIns="22860" rIns="22860" tIns="0" bIns="0" anchor="ctr">
            <a:spAutoFit/>
          </a:bodyPr>
          <a:lstStyle/>
          <a:p>
            <a:pPr algn="ctr">
              <a:spcAft>
                <a:spcPts val="0"/>
              </a:spcAft>
              <a:defRPr sz="1500" b="1">
                <a:solidFill>
                  <a:srgbClr val="111111"/>
                </a:solidFill>
                <a:latin typeface="Noto Serif CJK SC"/>
              </a:defRPr>
            </a:pPr>
            <a:r>
              <a:t>反馈不足</a:t>
            </a:r>
          </a:p>
        </p:txBody>
      </p:sp>
      <p:cxnSp>
        <p:nvCxnSpPr>
          <p:cNvPr id="36" name="Connector 35"/>
          <p:cNvCxnSpPr/>
          <p:nvPr/>
        </p:nvCxnSpPr>
        <p:spPr>
          <a:xfrm>
            <a:off x="5550408" y="6803136"/>
            <a:ext cx="0" cy="237744"/>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7" name="Rounded Rectangle 36"/>
          <p:cNvSpPr/>
          <p:nvPr/>
        </p:nvSpPr>
        <p:spPr>
          <a:xfrm>
            <a:off x="4937760" y="7040880"/>
            <a:ext cx="1225296" cy="402336"/>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965192" y="7059168"/>
            <a:ext cx="1170432" cy="365760"/>
          </a:xfrm>
          <a:prstGeom prst="rect">
            <a:avLst/>
          </a:prstGeom>
          <a:noFill/>
          <a:effectLst/>
        </p:spPr>
        <p:txBody>
          <a:bodyPr wrap="none" lIns="22860" rIns="22860" tIns="0" bIns="0" anchor="ctr">
            <a:spAutoFit/>
          </a:bodyPr>
          <a:lstStyle/>
          <a:p>
            <a:pPr algn="ctr">
              <a:spcAft>
                <a:spcPts val="0"/>
              </a:spcAft>
              <a:defRPr sz="1500" b="1">
                <a:solidFill>
                  <a:srgbClr val="111111"/>
                </a:solidFill>
                <a:latin typeface="Noto Serif CJK SC"/>
              </a:defRPr>
            </a:pPr>
            <a:r>
              <a:t>再次选择</a:t>
            </a:r>
          </a:p>
        </p:txBody>
      </p:sp>
      <p:cxnSp>
        <p:nvCxnSpPr>
          <p:cNvPr id="39" name="Connector 38"/>
          <p:cNvCxnSpPr/>
          <p:nvPr/>
        </p:nvCxnSpPr>
        <p:spPr>
          <a:xfrm>
            <a:off x="6163056" y="7242048"/>
            <a:ext cx="329184" cy="0"/>
          </a:xfrm>
          <a:prstGeom prst="line">
            <a:avLst/>
          </a:prstGeom>
          <a:ln w="13970">
            <a:solidFill>
              <a:srgbClr val="222222"/>
            </a:solidFill>
            <a:prstDash val="dash"/>
          </a:ln>
          <a:effectLst/>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flipV="1">
            <a:off x="6492240" y="1746504"/>
            <a:ext cx="0" cy="5495544"/>
          </a:xfrm>
          <a:prstGeom prst="line">
            <a:avLst/>
          </a:prstGeom>
          <a:ln w="13970">
            <a:solidFill>
              <a:srgbClr val="222222"/>
            </a:solidFill>
            <a:prstDash val="dash"/>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flipH="1">
            <a:off x="4572000" y="1746504"/>
            <a:ext cx="1920240" cy="0"/>
          </a:xfrm>
          <a:prstGeom prst="line">
            <a:avLst/>
          </a:prstGeom>
          <a:ln w="13970">
            <a:solidFill>
              <a:srgbClr val="222222"/>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2" name="Rounded Rectangle 41"/>
          <p:cNvSpPr/>
          <p:nvPr/>
        </p:nvSpPr>
        <p:spPr>
          <a:xfrm>
            <a:off x="1197864" y="7333488"/>
            <a:ext cx="1115568" cy="393192"/>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1225296" y="7351775"/>
            <a:ext cx="1060704" cy="356616"/>
          </a:xfrm>
          <a:prstGeom prst="rect">
            <a:avLst/>
          </a:prstGeom>
          <a:noFill/>
          <a:effectLst/>
        </p:spPr>
        <p:txBody>
          <a:bodyPr wrap="none" lIns="22860" rIns="22860" tIns="0" bIns="0" anchor="ctr">
            <a:spAutoFit/>
          </a:bodyPr>
          <a:lstStyle/>
          <a:p>
            <a:pPr algn="ctr">
              <a:spcAft>
                <a:spcPts val="0"/>
              </a:spcAft>
              <a:defRPr sz="1400" b="1">
                <a:solidFill>
                  <a:srgbClr val="111111"/>
                </a:solidFill>
                <a:latin typeface="Noto Serif CJK SC"/>
              </a:defRPr>
            </a:pPr>
            <a:r>
              <a:t>再次参与</a:t>
            </a:r>
          </a:p>
        </p:txBody>
      </p:sp>
      <p:sp>
        <p:nvSpPr>
          <p:cNvPr id="44" name="Rounded Rectangle 43"/>
          <p:cNvSpPr/>
          <p:nvPr/>
        </p:nvSpPr>
        <p:spPr>
          <a:xfrm>
            <a:off x="3703320" y="7333488"/>
            <a:ext cx="1115568" cy="393192"/>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730752" y="7351775"/>
            <a:ext cx="1060704" cy="356616"/>
          </a:xfrm>
          <a:prstGeom prst="rect">
            <a:avLst/>
          </a:prstGeom>
          <a:noFill/>
          <a:effectLst/>
        </p:spPr>
        <p:txBody>
          <a:bodyPr wrap="none" lIns="22860" rIns="22860" tIns="0" bIns="0" anchor="ctr">
            <a:spAutoFit/>
          </a:bodyPr>
          <a:lstStyle/>
          <a:p>
            <a:pPr algn="ctr">
              <a:spcAft>
                <a:spcPts val="0"/>
              </a:spcAft>
              <a:defRPr sz="1400" b="1">
                <a:solidFill>
                  <a:srgbClr val="111111"/>
                </a:solidFill>
                <a:latin typeface="Noto Serif CJK SC"/>
              </a:defRPr>
            </a:pPr>
            <a:r>
              <a:t>再次选择</a:t>
            </a:r>
          </a:p>
        </p:txBody>
      </p:sp>
      <p:sp>
        <p:nvSpPr>
          <p:cNvPr id="46" name="Oval 45"/>
          <p:cNvSpPr/>
          <p:nvPr/>
        </p:nvSpPr>
        <p:spPr>
          <a:xfrm>
            <a:off x="2651760" y="7104888"/>
            <a:ext cx="1024128" cy="1024128"/>
          </a:xfrm>
          <a:prstGeom prst="ellipse">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2679191" y="7123175"/>
            <a:ext cx="969264" cy="987552"/>
          </a:xfrm>
          <a:prstGeom prst="rect">
            <a:avLst/>
          </a:prstGeom>
          <a:noFill/>
          <a:effectLst/>
        </p:spPr>
        <p:txBody>
          <a:bodyPr wrap="none" lIns="22860" rIns="22860" tIns="0" bIns="0" anchor="ctr">
            <a:spAutoFit/>
          </a:bodyPr>
          <a:lstStyle/>
          <a:p>
            <a:pPr algn="ctr">
              <a:spcAft>
                <a:spcPts val="0"/>
              </a:spcAft>
              <a:defRPr sz="1250" b="1">
                <a:solidFill>
                  <a:srgbClr val="111111"/>
                </a:solidFill>
                <a:latin typeface="Noto Serif CJK SC"/>
              </a:defRPr>
            </a:pPr>
            <a:r>
              <a:t>持续参与</a:t>
            </a:r>
          </a:p>
        </p:txBody>
      </p:sp>
      <p:sp>
        <p:nvSpPr>
          <p:cNvPr id="48" name="Rectangle 47"/>
          <p:cNvSpPr/>
          <p:nvPr/>
        </p:nvSpPr>
        <p:spPr>
          <a:xfrm>
            <a:off x="3730752" y="6803136"/>
            <a:ext cx="530352" cy="530351"/>
          </a:xfrm>
          <a:custGeom>
            <a:avLst/>
            <a:gdLst/>
            <a:ahLst/>
            <a:cxnLst/>
            <a:rect l="0" t="0" r="w" b="h"/>
            <a:pathLst>
              <a:path w="100000" h="100000" fill="none">
                <a:moveTo>
                  <a:pt x="0" y="0"/>
                </a:moveTo>
                <a:cubicBezTo>
                  <a:pt x="37931" y="29310"/>
                  <a:pt x="79310" y="58621"/>
                  <a:pt x="100000" y="100000"/>
                </a:cubicBezTo>
              </a:path>
            </a:pathLst>
          </a:custGeom>
          <a:noFill/>
          <a:ln w="13970">
            <a:solidFill>
              <a:srgbClr val="222222"/>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1755648" y="7726679"/>
            <a:ext cx="2505456" cy="502920"/>
          </a:xfrm>
          <a:custGeom>
            <a:avLst/>
            <a:gdLst/>
            <a:ahLst/>
            <a:cxnLst/>
            <a:rect l="0" t="0" r="w" b="h"/>
            <a:pathLst>
              <a:path w="100000" h="100000" fill="none">
                <a:moveTo>
                  <a:pt x="100000" y="0"/>
                </a:moveTo>
                <a:cubicBezTo>
                  <a:pt x="90511" y="100000"/>
                  <a:pt x="18248" y="100000"/>
                  <a:pt x="0" y="0"/>
                </a:cubicBezTo>
              </a:path>
            </a:pathLst>
          </a:custGeom>
          <a:noFill/>
          <a:ln w="13970">
            <a:solidFill>
              <a:srgbClr val="222222"/>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ectangle 49"/>
          <p:cNvSpPr/>
          <p:nvPr/>
        </p:nvSpPr>
        <p:spPr>
          <a:xfrm>
            <a:off x="1755648" y="6803136"/>
            <a:ext cx="621792" cy="530351"/>
          </a:xfrm>
          <a:custGeom>
            <a:avLst/>
            <a:gdLst/>
            <a:ahLst/>
            <a:cxnLst/>
            <a:rect l="0" t="0" r="w" b="h"/>
            <a:pathLst>
              <a:path w="100000" h="100000" fill="none">
                <a:moveTo>
                  <a:pt x="0" y="100000"/>
                </a:moveTo>
                <a:cubicBezTo>
                  <a:pt x="11765" y="58621"/>
                  <a:pt x="33824" y="29310"/>
                  <a:pt x="100000" y="0"/>
                </a:cubicBezTo>
              </a:path>
            </a:pathLst>
          </a:custGeom>
          <a:noFill/>
          <a:ln w="13970">
            <a:solidFill>
              <a:srgbClr val="222222"/>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1" name="Connector 50"/>
          <p:cNvCxnSpPr/>
          <p:nvPr/>
        </p:nvCxnSpPr>
        <p:spPr>
          <a:xfrm>
            <a:off x="3163824" y="8129016"/>
            <a:ext cx="0" cy="274320"/>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2" name="Rounded Rectangle 51"/>
          <p:cNvSpPr/>
          <p:nvPr/>
        </p:nvSpPr>
        <p:spPr>
          <a:xfrm>
            <a:off x="2240280" y="8403336"/>
            <a:ext cx="1847088" cy="420624"/>
          </a:xfrm>
          <a:prstGeom prst="roundRect">
            <a:avLst>
              <a:gd name="adj" fmla="val 6500"/>
            </a:avLst>
          </a:prstGeom>
          <a:solidFill>
            <a:srgbClr val="F5F5F5"/>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2267712" y="8421624"/>
            <a:ext cx="1792224" cy="384048"/>
          </a:xfrm>
          <a:prstGeom prst="rect">
            <a:avLst/>
          </a:prstGeom>
          <a:noFill/>
          <a:effectLst/>
        </p:spPr>
        <p:txBody>
          <a:bodyPr wrap="none" lIns="22860" rIns="22860" tIns="0" bIns="0" anchor="ctr">
            <a:spAutoFit/>
          </a:bodyPr>
          <a:lstStyle/>
          <a:p>
            <a:pPr algn="ctr">
              <a:spcAft>
                <a:spcPts val="0"/>
              </a:spcAft>
              <a:defRPr sz="1500" b="1">
                <a:solidFill>
                  <a:srgbClr val="111111"/>
                </a:solidFill>
                <a:latin typeface="Noto Serif CJK SC"/>
              </a:defRPr>
            </a:pPr>
            <a:r>
              <a:t>相对稳定偏好</a:t>
            </a:r>
          </a:p>
        </p:txBody>
      </p:sp>
      <p:cxnSp>
        <p:nvCxnSpPr>
          <p:cNvPr id="54" name="Connector 53"/>
          <p:cNvCxnSpPr/>
          <p:nvPr/>
        </p:nvCxnSpPr>
        <p:spPr>
          <a:xfrm>
            <a:off x="3163824" y="8823960"/>
            <a:ext cx="0" cy="118872"/>
          </a:xfrm>
          <a:prstGeom prst="line">
            <a:avLst/>
          </a:prstGeom>
          <a:ln w="13970">
            <a:solidFill>
              <a:srgbClr val="222222"/>
            </a:solidFill>
          </a:ln>
          <a:effectLst/>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a:off x="1874519" y="8942832"/>
            <a:ext cx="2679193" cy="0"/>
          </a:xfrm>
          <a:prstGeom prst="line">
            <a:avLst/>
          </a:prstGeom>
          <a:ln w="13970">
            <a:solidFill>
              <a:srgbClr val="222222"/>
            </a:solidFill>
          </a:ln>
          <a:effectLst/>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a:off x="1874519" y="8942832"/>
            <a:ext cx="0" cy="164592"/>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a:off x="4553712" y="8942832"/>
            <a:ext cx="0" cy="164592"/>
          </a:xfrm>
          <a:prstGeom prst="line">
            <a:avLst/>
          </a:prstGeom>
          <a:ln w="13970">
            <a:solidFill>
              <a:srgbClr val="22222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Rounded Rectangle 57"/>
          <p:cNvSpPr/>
          <p:nvPr/>
        </p:nvSpPr>
        <p:spPr>
          <a:xfrm>
            <a:off x="978408" y="9107424"/>
            <a:ext cx="1792224" cy="384048"/>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005840" y="9125712"/>
            <a:ext cx="1737360" cy="347472"/>
          </a:xfrm>
          <a:prstGeom prst="rect">
            <a:avLst/>
          </a:prstGeom>
          <a:noFill/>
          <a:effectLst/>
        </p:spPr>
        <p:txBody>
          <a:bodyPr wrap="none" lIns="22860" rIns="22860" tIns="0" bIns="0" anchor="ctr">
            <a:spAutoFit/>
          </a:bodyPr>
          <a:lstStyle/>
          <a:p>
            <a:pPr algn="ctr">
              <a:spcAft>
                <a:spcPts val="0"/>
              </a:spcAft>
              <a:defRPr sz="1500" b="1">
                <a:solidFill>
                  <a:srgbClr val="111111"/>
                </a:solidFill>
                <a:latin typeface="Noto Serif CJK SC"/>
              </a:defRPr>
            </a:pPr>
            <a:r>
              <a:t>偏好线上</a:t>
            </a:r>
          </a:p>
        </p:txBody>
      </p:sp>
      <p:sp>
        <p:nvSpPr>
          <p:cNvPr id="60" name="Rounded Rectangle 59"/>
          <p:cNvSpPr/>
          <p:nvPr/>
        </p:nvSpPr>
        <p:spPr>
          <a:xfrm>
            <a:off x="3657600" y="9107424"/>
            <a:ext cx="1792224" cy="384048"/>
          </a:xfrm>
          <a:prstGeom prst="roundRect">
            <a:avLst>
              <a:gd name="adj" fmla="val 6500"/>
            </a:avLst>
          </a:prstGeom>
          <a:solidFill>
            <a:srgbClr val="FFFFFF"/>
          </a:solidFill>
          <a:ln w="13970">
            <a:solidFill>
              <a:srgbClr val="22222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3685032" y="9125712"/>
            <a:ext cx="1737360" cy="347472"/>
          </a:xfrm>
          <a:prstGeom prst="rect">
            <a:avLst/>
          </a:prstGeom>
          <a:noFill/>
          <a:effectLst/>
        </p:spPr>
        <p:txBody>
          <a:bodyPr wrap="none" lIns="22860" rIns="22860" tIns="0" bIns="0" anchor="ctr">
            <a:spAutoFit/>
          </a:bodyPr>
          <a:lstStyle/>
          <a:p>
            <a:pPr algn="ctr">
              <a:spcAft>
                <a:spcPts val="0"/>
              </a:spcAft>
              <a:defRPr sz="1500" b="1">
                <a:solidFill>
                  <a:srgbClr val="111111"/>
                </a:solidFill>
                <a:latin typeface="Noto Serif CJK SC"/>
              </a:defRPr>
            </a:pPr>
            <a:r>
              <a:t>偏好线下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