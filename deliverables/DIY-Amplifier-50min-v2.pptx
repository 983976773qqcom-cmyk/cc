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0—1分钟。展示成品但不预先宣布效果。介绍：今天研究一套纸杯、弹簧和透明筒组成的声音装置。名称沿用教材“DIY扩音器”，但是否更响要用实际观察判断。让学生知道本课既要动手，也要找证据。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1—2分钟。把成人教学目标转换成学生任务。低年级完成组装并说出一个变化即可；高年级需说明公平比较条件，并区分观察与解释。不要承诺每个装置都能提高响度。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—4分钟。教师提前打好大小杯孔；核对孔和弹簧尺寸是否匹配；检查透明筒边缘、弹簧端头是否锋利。现场打孔和剪线只由教师操作。学生不拉长弹簧，不对耳朵喊，不将细线绕在身体上。分组试音，避免全班同时发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—6分钟。情境：操场上要提醒同学排队。允许回答靠近、安静、朝向听众、使用电子扩音设备。明确“听清”与“更响”不是同一回事：减少噪声也能帮助听清。展示装置，提问它是否也能改变声音，保持答案开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—9分钟。先由教师示范：指腹轻轻放在自己的喉咙外侧，正常音量发“啊”，比较发声与停止时感觉。不按压喉咙，不大叫。低年级说“有轻轻的动”；高年级区分直接感觉到的振动与传播到耳朵的声音。解释声带振动是这个活动的声源，不代表所有发声物都用声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—11分钟。图片来自原PPT第7页，按图编号点名：1透明筒，2弹簧，3棉线，4小纸杯，5大纸杯。教师预先打孔并检查锐边，工具不作为学生材料发放。让学生把材料放在桌面上，对照图片确认，不强行插入不匹配的零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11—13分钟。口头投票或在记录单圈选，可以多选，也可说没有变化。低年级用手势或简单词语；高年级补充理由。不要把“更响”作为正确答案，也不要提前纠正学生猜想。实验后回看原预测。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分钟，约30秒安排分工，包含在制作阶段。优先两人一组，也可三人。操作员组装，检查员对照图片并提醒安全；第三人负责记录。每一步交换角色。混龄组让高年级示范或提醒，避免替低年级全程代做。教师先演示再让学生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—17分钟。图片来自原PPT第9页。教师展示预先打好的杯底小孔；学生在指导下旋转弹簧，使其卡住杯底。由于教具尺寸未知，上课前务必用实际套件试装。不要用力刺穿杯底，也不直接触摸锋利端头。低年级困难时由教师协助，高年级负责检查固定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17—20分钟。图片来自原PPT第10页。示范把棉线系在弹簧另一端，轻轻检查是否松脱，不拉长弹簧。低年级不会打结时教师帮助；高年级可先练习打结再辅助检查。不把线缠到手指或脖子上。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20—25分钟。图片来自原PPT第11页。透明筒套在大杯底部，小杯底孔由教师提前做好，把棉线穿过小杯底孔。学生不自行钻孔。提醒保持零件排列方向，不挤压纸杯；遇到孔太小或筒不匹配，交给教师处理。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—29分钟。图片来自原PPT第12页。借棉线缓慢引导弹簧端到小杯底孔，轻轻旋转，让弹簧卡住。老师检查两端固定、弹簧端头与筒边缘，必要时处理不安全部位。多余棉线由老师剪，不要求学生为美观反复拆装。图中的红圈标出小杯连接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—31分钟。逐组检查再允许试音。低年级指认大小杯连接；高年级对照三项检查。常见故障：杯底撕裂、弹簧松动、线结滑脱。停止使用，由教师修复或更换。不要让学生用拉扯来“测试强度”。提前准备一个教师装好的备用成品，进度较慢的小组可借用参加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—33分钟。固定一名说话者和一名听者，说话与听者位置用桌边或地面标记。装置大杯口朝说话者、小杯口朝听者；听者保持距离，不贴耳。两种条件尽量保持说话者嘴和听者位置相同、方向相同、同一句话、同样努力的正常音量。口头音量难完全一致，所以要交换先后次序并重复。本活动仅为主观听感比较，不是声压级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—35分钟。条件A：不借助装置，在标记位置正常说“你好，科学！”；条件B：保持嘴和听者位置，拿入装置，对大纸杯口正常说同一句话。听者分别记录响度、音色和清晰度印象。其他人静音。不要求每个维度都有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—36分钟。固定同一说话者和听者，先装置后直接说，避免总把后一次当作更响。重复后才比较结论。若时间充裕，交换角色另做一组比较，但不要把不同说话者结果直接当成装置效果。三至四年级回答：为什么要重复？一至二年级回答：两次听起来一样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—38分钟。分发记录单，低年级圈选或画图；高年级写一句证据。对比B与A，分开记录响度、音色、清晰度，允许不确定和不一致。主观结果不能被当成精确测量。老师巡视询问“你听到了什么”，不问“是不是变大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—39分钟，邀请两组简短分享。提示可能有“更响”“没明显变化”“音色变化”等不同观察。讨论音量、方向、连接状态与安静程度的影响，但不把这些当成未经检验的确定原因。提醒这节课只检验整个装置，未单独验证弹簧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—42分钟。声音由振动产生，并可通过空气等介质传播。说话声进入装置，杯子、筒内空气和弹簧的振动响应可能影响听到的声音；空腔的共鸣与声音传出方向也可能影响听感。没有实际测量，不能断言哪个因素主导或一定增强响度。用可能、观察到、还需验证区分知识与本次推断。低年级掌握振动与传播；高年级了解整体装置对比不能证明单个零件的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—45分钟。明确本套件没有电源、麦克风、电子放大电路或音圈。电子扩音器用电能驱动扬声器振动，使声音输出增强；本装置不额外提供电能，可能改变声音的传递、方向、共鸣与音色。原材料中音圈直接使声音变大是对电子装置的简化描述，不适用于本套件；删除无可靠来源的“1950年由雷威发明”及“比音箱穿透力强”概括，不安排历史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—47分钟。判断：1错误，只有声源等振动才产生相应声音，活动中用声带振动举例。2错误，音色变化不是响度提高，主观更响也不能证明电子放大。3正确，但补充两次不一致也要如实记录，尽量控制条件。低年级用拇指或口头判断，高年级每题给一句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47—49分钟。低年级完成一句“我做出了……/我听到了……”即可。高年级完成“我发现……，因为比较时……；我还不能确定……”。只邀请少量学生全班分享，其余向同伴说，确保留出清理时间。可以把课后任务设为向家人解释公平比较，不要求在家使用尖锐工具重新组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49—50分钟。收好装置、棉线与零件，垃圾分类按学校要求执行，洗手。有损坏交给教师，不随意拉扯或拆卸弹簧。教师课后保存学生观察，记录套件实际听感与组装问题，用于下一次课调整。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01  /  准备出发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50分钟 · 一至四年级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DIY扩音器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5486400" cy="1417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FFFFFF"/>
                </a:solidFill>
                <a:latin typeface="Noto Sans CJK SC"/>
              </a:defRPr>
            </a:pPr>
            <a:r>
              <a:t>声音，会发生</a:t>
            </a:r>
          </a:p>
          <a:p>
            <a:pPr>
              <a:spcAft>
                <a:spcPts val="1000"/>
              </a:spcAft>
              <a:defRPr sz="4300" b="1">
                <a:solidFill>
                  <a:srgbClr val="FFFFFF"/>
                </a:solidFill>
                <a:latin typeface="Noto Sans CJK SC"/>
              </a:defRPr>
            </a:pPr>
            <a:r>
              <a:t>什么变化？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1206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BCE9E4"/>
                </a:solidFill>
                <a:latin typeface="Noto Sans CJK SC"/>
              </a:defRPr>
            </a:pPr>
            <a:r>
              <a:t>先猜想，再制作。</a:t>
            </a:r>
          </a:p>
          <a:p>
            <a:pPr>
              <a:spcAft>
                <a:spcPts val="1000"/>
              </a:spcAft>
              <a:defRPr sz="2700" b="0">
                <a:solidFill>
                  <a:srgbClr val="BCE9E4"/>
                </a:solidFill>
                <a:latin typeface="Noto Sans CJK SC"/>
              </a:defRPr>
            </a:pPr>
            <a:r>
              <a:t>用你的耳朵寻找证据。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874519"/>
            <a:ext cx="4800600" cy="4160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13371"/>
            <a:ext cx="4434840" cy="29341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32320" y="5486400"/>
            <a:ext cx="4114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87C86"/>
                </a:solidFill>
                <a:latin typeface="Noto Sans CJK SC"/>
              </a:defRPr>
            </a:pPr>
            <a:r>
              <a:t>今日主角：纸杯 · 弹簧 · 透明筒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01  /  准备出发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0—4分钟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今天，我们完成三项挑战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286000"/>
            <a:ext cx="1097280" cy="109728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2478024"/>
            <a:ext cx="4572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0440" y="2670048"/>
            <a:ext cx="566928" cy="347472"/>
          </a:xfrm>
          <a:prstGeom prst="rightArrow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33832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DD632D"/>
                </a:solidFill>
                <a:latin typeface="Noto Sans CJK SC"/>
              </a:defRPr>
            </a:pPr>
            <a:r>
              <a:t>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3291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合作完成装置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2286000"/>
            <a:ext cx="1097280" cy="109728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2478024"/>
            <a:ext cx="4572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69479" y="2670048"/>
            <a:ext cx="566928" cy="347472"/>
          </a:xfrm>
          <a:prstGeom prst="rightArrow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703320"/>
            <a:ext cx="33832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DD632D"/>
                </a:solidFill>
                <a:latin typeface="Noto Sans CJK SC"/>
              </a:defRPr>
            </a:pPr>
            <a:r>
              <a:t>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617720"/>
            <a:ext cx="3291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找出声音变化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0" y="2286000"/>
            <a:ext cx="1097280" cy="109728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7" y="2478024"/>
            <a:ext cx="4572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38328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DD632D"/>
                </a:solidFill>
                <a:latin typeface="Noto Sans CJK SC"/>
              </a:defRPr>
            </a:pPr>
            <a:r>
              <a:t>解释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17720"/>
            <a:ext cx="3291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用证据说发现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01  /  准备出发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0—4分钟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安全口令：停、看、问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57400"/>
            <a:ext cx="2514600" cy="3977639"/>
          </a:xfrm>
          <a:prstGeom prst="roundRect">
            <a:avLst>
              <a:gd name="adj" fmla="val 9000"/>
            </a:avLst>
          </a:prstGeom>
          <a:solidFill>
            <a:srgbClr val="B84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423160"/>
            <a:ext cx="1645920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Noto Sans CJK SC"/>
              </a:defRPr>
            </a:pPr>
            <a:r>
              <a:t>停</a:t>
            </a:r>
          </a:p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Noto Sans CJK SC"/>
              </a:defRPr>
            </a:pPr>
            <a:r>
              <a:t>看</a:t>
            </a:r>
          </a:p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6" name="Oval 15"/>
          <p:cNvSpPr/>
          <p:nvPr/>
        </p:nvSpPr>
        <p:spPr>
          <a:xfrm>
            <a:off x="3246120" y="2377440"/>
            <a:ext cx="594360" cy="59436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245973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37744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DD632D"/>
                </a:solidFill>
                <a:latin typeface="Noto Sans CJK SC"/>
              </a:defRPr>
            </a:pPr>
            <a:r>
              <a:t>工具交给老师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404872"/>
            <a:ext cx="48006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打孔、剪线由老师完成。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474720"/>
            <a:ext cx="78638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173944"/>
                </a:solidFill>
                <a:latin typeface="Noto Sans CJK SC"/>
              </a:defRPr>
            </a:pPr>
            <a:r>
              <a:t>不入口，不猛拉，不朝耳朵喊。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480560"/>
            <a:ext cx="7863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有尖端、破损或卡住，举手问老师。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504688"/>
            <a:ext cx="7772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B84036"/>
                </a:solidFill>
                <a:latin typeface="Noto Sans CJK SC"/>
              </a:defRPr>
            </a:pPr>
            <a:r>
              <a:t>细线不绕手指和脖子。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 /  发现问题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4—9分钟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操场很吵，怎样让同伴听清？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731520" y="2240280"/>
            <a:ext cx="6583680" cy="2057400"/>
          </a:xfrm>
          <a:prstGeom prst="wedgeRoundRectCallou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33472"/>
            <a:ext cx="5943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“请大家排好队！”</a:t>
            </a:r>
          </a:p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可是，同伴没有听清……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3291840" cy="758952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2834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靠近一些？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846320"/>
            <a:ext cx="3291840" cy="758952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5010912"/>
            <a:ext cx="2834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请大家安静？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846320"/>
            <a:ext cx="3291840" cy="758952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5010912"/>
            <a:ext cx="2834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借助工具？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31720"/>
            <a:ext cx="352044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87C86"/>
                </a:solidFill>
                <a:latin typeface="Noto Sans CJK SC"/>
              </a:defRPr>
            </a:pPr>
            <a:r>
              <a:t>听得清楚</a:t>
            </a:r>
          </a:p>
          <a:p>
            <a:pPr>
              <a:spcAft>
                <a:spcPts val="1000"/>
              </a:spcAft>
              <a:defRPr sz="3100" b="1">
                <a:solidFill>
                  <a:srgbClr val="087C86"/>
                </a:solidFill>
                <a:latin typeface="Noto Sans CJK SC"/>
              </a:defRPr>
            </a:pPr>
            <a:r>
              <a:t>一定等于</a:t>
            </a:r>
          </a:p>
          <a:p>
            <a:pPr>
              <a:spcAft>
                <a:spcPts val="1000"/>
              </a:spcAft>
              <a:defRPr sz="3100" b="1">
                <a:solidFill>
                  <a:srgbClr val="087C86"/>
                </a:solidFill>
                <a:latin typeface="Noto Sans CJK SC"/>
              </a:defRPr>
            </a:pPr>
            <a:r>
              <a:t>声音更响吗？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87C86"/>
                </a:solidFill>
                <a:latin typeface="Noto Sans CJK SC"/>
              </a:defRPr>
            </a:pPr>
            <a:r>
              <a:t>02  /  发现问题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4—9分钟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轻声说“啊——”，你感觉到了什么？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87C86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466344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7600" b="1">
                <a:solidFill>
                  <a:srgbClr val="087C86"/>
                </a:solidFill>
                <a:latin typeface="Noto Sans CJK SC"/>
              </a:defRPr>
            </a:pPr>
            <a:r>
              <a:t>啊——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47548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发声时有变化吗？</a:t>
            </a:r>
          </a:p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停下来，再感受一次。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148840"/>
            <a:ext cx="548640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14600"/>
            <a:ext cx="475488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① 指尖轻放喉咙外侧。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② 正常音量说“啊”。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③ 停下，对比感觉。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7899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87C86"/>
                </a:solidFill>
                <a:latin typeface="Noto Sans CJK SC"/>
              </a:defRPr>
            </a:pPr>
            <a:r>
              <a:t>轻轻碰，不按压，不大叫，不碰同伴。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03  /  认识材料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9—13分钟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材料侦探：找到五位主角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14" name="Picture 13" descr="sourc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08" y="1920240"/>
            <a:ext cx="6372022" cy="420624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8458200" y="2011680"/>
            <a:ext cx="502920" cy="50292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057400"/>
            <a:ext cx="274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029968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透明筒</a:t>
            </a:r>
          </a:p>
        </p:txBody>
      </p:sp>
      <p:sp>
        <p:nvSpPr>
          <p:cNvPr id="18" name="Oval 17"/>
          <p:cNvSpPr/>
          <p:nvPr/>
        </p:nvSpPr>
        <p:spPr>
          <a:xfrm>
            <a:off x="8458200" y="2788920"/>
            <a:ext cx="502920" cy="50292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2834640"/>
            <a:ext cx="274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07208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弹簧</a:t>
            </a:r>
          </a:p>
        </p:txBody>
      </p:sp>
      <p:sp>
        <p:nvSpPr>
          <p:cNvPr id="21" name="Oval 20"/>
          <p:cNvSpPr/>
          <p:nvPr/>
        </p:nvSpPr>
        <p:spPr>
          <a:xfrm>
            <a:off x="8458200" y="3566160"/>
            <a:ext cx="502920" cy="50292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3611880"/>
            <a:ext cx="274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584448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棉线</a:t>
            </a:r>
          </a:p>
        </p:txBody>
      </p:sp>
      <p:sp>
        <p:nvSpPr>
          <p:cNvPr id="24" name="Oval 23"/>
          <p:cNvSpPr/>
          <p:nvPr/>
        </p:nvSpPr>
        <p:spPr>
          <a:xfrm>
            <a:off x="8458200" y="4343400"/>
            <a:ext cx="502920" cy="50292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2792" y="4389120"/>
            <a:ext cx="274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361688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小纸杯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5120640"/>
            <a:ext cx="502920" cy="50292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22792" y="5166359"/>
            <a:ext cx="274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138927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大纸杯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03  /  认识材料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9—13分钟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先投票：你预测哪一种变化？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423160"/>
            <a:ext cx="2514600" cy="2514600"/>
          </a:xfrm>
          <a:prstGeom prst="ellipse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2148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更响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0" y="2423160"/>
            <a:ext cx="2514600" cy="251460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291840"/>
            <a:ext cx="2148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更轻</a:t>
            </a:r>
          </a:p>
        </p:txBody>
      </p:sp>
      <p:sp>
        <p:nvSpPr>
          <p:cNvPr id="18" name="Oval 17"/>
          <p:cNvSpPr/>
          <p:nvPr/>
        </p:nvSpPr>
        <p:spPr>
          <a:xfrm>
            <a:off x="6537959" y="2423160"/>
            <a:ext cx="2514600" cy="2514600"/>
          </a:xfrm>
          <a:prstGeom prst="ellipse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291840"/>
            <a:ext cx="2148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声音不同</a:t>
            </a:r>
          </a:p>
        </p:txBody>
      </p:sp>
      <p:sp>
        <p:nvSpPr>
          <p:cNvPr id="20" name="Oval 19"/>
          <p:cNvSpPr/>
          <p:nvPr/>
        </p:nvSpPr>
        <p:spPr>
          <a:xfrm>
            <a:off x="9418319" y="2423160"/>
            <a:ext cx="2514600" cy="251460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9" y="3291840"/>
            <a:ext cx="2148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没有变化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5156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173944"/>
                </a:solidFill>
                <a:latin typeface="Noto Sans CJK SC"/>
              </a:defRPr>
            </a:pPr>
            <a:r>
              <a:t>我猜________，因为________。也可以选择“不确定”。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04  /  动手制作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13—31分钟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合作制作：下一步，交换角色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240280"/>
            <a:ext cx="4389120" cy="2880360"/>
          </a:xfrm>
          <a:prstGeom prst="roundRect">
            <a:avLst>
              <a:gd name="adj" fmla="val 9000"/>
            </a:avLst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651760"/>
            <a:ext cx="3657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操作员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3657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照图做一步</a:t>
            </a:r>
          </a:p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完成后先停手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240280"/>
            <a:ext cx="4389120" cy="2880360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651760"/>
            <a:ext cx="3657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FFFFFF"/>
                </a:solidFill>
                <a:latin typeface="Noto Sans CJK SC"/>
              </a:defRPr>
            </a:pPr>
            <a:r>
              <a:t>检查员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657600"/>
            <a:ext cx="365760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对照图片</a:t>
            </a:r>
          </a:p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提醒同伴安全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577840" y="3291840"/>
            <a:ext cx="566928" cy="347472"/>
          </a:xfrm>
          <a:prstGeom prst="rightArrow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100584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轮流动手，不由一位同学包办。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04  /  动手制作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13—17分钟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制作第1步 / 固定大纸杯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14" name="Picture 13" descr="sourc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6" y="1874519"/>
            <a:ext cx="6321506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1938528"/>
            <a:ext cx="356616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500" b="1">
                <a:solidFill>
                  <a:srgbClr val="DD632D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10128"/>
            <a:ext cx="3703320" cy="2057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找到老师打好的孔。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旋转弹簧，让它卡住。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旋转，不硬推。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5623560"/>
            <a:ext cx="640080" cy="109728"/>
          </a:xfrm>
          <a:prstGeom prst="rect">
            <a:avLst/>
          </a:prstGeom>
          <a:solidFill>
            <a:srgbClr val="E5C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5623560"/>
            <a:ext cx="640080" cy="109728"/>
          </a:xfrm>
          <a:prstGeom prst="rect">
            <a:avLst/>
          </a:prstGeom>
          <a:solidFill>
            <a:srgbClr val="E5C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5623560"/>
            <a:ext cx="640080" cy="109728"/>
          </a:xfrm>
          <a:prstGeom prst="rect">
            <a:avLst/>
          </a:prstGeom>
          <a:solidFill>
            <a:srgbClr val="E5C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04  /  动手制作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17—20分钟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制作第2步 / 系好棉线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14" name="Picture 13" descr="sourc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874519"/>
            <a:ext cx="6309359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1938528"/>
            <a:ext cx="356616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500" b="1">
                <a:solidFill>
                  <a:srgbClr val="DD632D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10128"/>
            <a:ext cx="3703320" cy="2057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把棉线系在弹簧另一端。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轻轻检查线结。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不拉长弹簧。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5623560"/>
            <a:ext cx="640080" cy="109728"/>
          </a:xfrm>
          <a:prstGeom prst="rect">
            <a:avLst/>
          </a:prstGeom>
          <a:solidFill>
            <a:srgbClr val="E5C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5623560"/>
            <a:ext cx="640080" cy="109728"/>
          </a:xfrm>
          <a:prstGeom prst="rect">
            <a:avLst/>
          </a:prstGeom>
          <a:solidFill>
            <a:srgbClr val="E5C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04  /  动手制作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20—25分钟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制作第3步 / 套筒、穿线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14" name="Picture 13" descr="source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40" y="1874519"/>
            <a:ext cx="6298679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1938528"/>
            <a:ext cx="356616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500" b="1">
                <a:solidFill>
                  <a:srgbClr val="DD632D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10128"/>
            <a:ext cx="3703320" cy="2057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透明筒套在大杯底。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棉线穿过小杯底孔。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卡住时，不硬拉。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5623560"/>
            <a:ext cx="640080" cy="109728"/>
          </a:xfrm>
          <a:prstGeom prst="rect">
            <a:avLst/>
          </a:prstGeom>
          <a:solidFill>
            <a:srgbClr val="E5C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04  /  动手制作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25—29分钟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制作第4步 / 固定小纸杯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14" name="Picture 13" descr="source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86" y="1874519"/>
            <a:ext cx="6288387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1938528"/>
            <a:ext cx="3566160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6500" b="1">
                <a:solidFill>
                  <a:srgbClr val="DD632D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10128"/>
            <a:ext cx="3703320" cy="2057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用棉线轻轻引导。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旋转弹簧，卡住杯底。</a:t>
            </a:r>
          </a:p>
          <a:p>
            <a:pPr>
              <a:spcAft>
                <a:spcPts val="1000"/>
              </a:spcAft>
              <a:defRPr sz="2600" b="0">
                <a:solidFill>
                  <a:srgbClr val="173944"/>
                </a:solidFill>
                <a:latin typeface="Noto Sans CJK SC"/>
              </a:defRPr>
            </a:pPr>
            <a:r>
              <a:t>请老师检查、剪线。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13648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54896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5623560"/>
            <a:ext cx="640080" cy="109728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D632D"/>
                </a:solidFill>
                <a:latin typeface="Noto Sans CJK SC"/>
              </a:defRPr>
            </a:pPr>
            <a:r>
              <a:t>04  /  动手制作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29—31分钟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完成后，先检查再试音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DD6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D632D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8600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36829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28600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87C86"/>
                </a:solidFill>
                <a:latin typeface="Noto Sans CJK SC"/>
              </a:defRPr>
            </a:pPr>
            <a:r>
              <a:t>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13432"/>
            <a:ext cx="69494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两端稳固，没有松脱。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51129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2900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87C86"/>
                </a:solidFill>
                <a:latin typeface="Noto Sans CJK SC"/>
              </a:defRPr>
            </a:pPr>
            <a:r>
              <a:t>外观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456432"/>
            <a:ext cx="69494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纸杯完好，没有危险尖端。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572000"/>
            <a:ext cx="594360" cy="594360"/>
          </a:xfrm>
          <a:prstGeom prst="ellipse">
            <a:avLst/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65429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7200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87C86"/>
                </a:solidFill>
                <a:latin typeface="Noto Sans CJK SC"/>
              </a:defRPr>
            </a:pPr>
            <a:r>
              <a:t>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99432"/>
            <a:ext cx="69494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  <a:r>
              <a:t>老师检查通过，才能试音。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05  /  比较声音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公平比较：哪些条件不能变？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148840"/>
            <a:ext cx="2286000" cy="603504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221992"/>
            <a:ext cx="1920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同一人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21992"/>
            <a:ext cx="7772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说话者不换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90088"/>
            <a:ext cx="2286000" cy="603504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063240"/>
            <a:ext cx="1920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同一句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63240"/>
            <a:ext cx="7772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31336"/>
            <a:ext cx="2286000" cy="603504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04488"/>
            <a:ext cx="1920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同位置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904488"/>
            <a:ext cx="7772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嘴、听者位置固定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72584"/>
            <a:ext cx="2286000" cy="603504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45736"/>
            <a:ext cx="1920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同环境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745736"/>
            <a:ext cx="77724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173944"/>
                </a:solidFill>
                <a:latin typeface="Noto Sans CJK SC"/>
              </a:defRPr>
            </a:pPr>
            <a:r>
              <a:t>安静，正常音量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6984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35AC0"/>
                </a:solidFill>
                <a:latin typeface="Noto Sans CJK SC"/>
              </a:defRPr>
            </a:pPr>
            <a:r>
              <a:t>还要重复一次；装置不贴耳，不用力喊。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05  /  比较声音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先直接说，再用装置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331720"/>
            <a:ext cx="3886200" cy="2971800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606040"/>
            <a:ext cx="32004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94760"/>
            <a:ext cx="3246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直接说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90288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331720"/>
            <a:ext cx="3886200" cy="2971800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606040"/>
            <a:ext cx="32004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94760"/>
            <a:ext cx="3246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对大杯口说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590288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69280" y="3566160"/>
            <a:ext cx="566928" cy="347472"/>
          </a:xfrm>
          <a:prstGeom prst="rightArrow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73944"/>
                </a:solidFill>
                <a:latin typeface="Noto Sans CJK SC"/>
              </a:defRPr>
            </a:pPr>
            <a:r>
              <a:t>位置、说话者和音量尽量不变。听者记录真实感受。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05  /  比较声音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先用装置，再直接说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331720"/>
            <a:ext cx="3886200" cy="2971800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606040"/>
            <a:ext cx="32004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94760"/>
            <a:ext cx="3246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对大杯口说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90288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331720"/>
            <a:ext cx="3886200" cy="2971800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606040"/>
            <a:ext cx="32004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94760"/>
            <a:ext cx="3246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Noto Sans CJK SC"/>
              </a:defRPr>
            </a:pPr>
            <a:r>
              <a:t>直接说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590288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FFFFFF"/>
                </a:solidFill>
                <a:latin typeface="Noto Sans CJK SC"/>
              </a:defRPr>
            </a:pPr>
            <a:r>
              <a:t>“你好，科学！”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669280" y="3566160"/>
            <a:ext cx="566928" cy="347472"/>
          </a:xfrm>
          <a:prstGeom prst="rightArrow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73944"/>
                </a:solidFill>
                <a:latin typeface="Noto Sans CJK SC"/>
              </a:defRPr>
            </a:pPr>
            <a:r>
              <a:t>位置、说话者和音量尽量不变。听者记录真实感受。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05  /  比较声音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把耳朵听到的，记下来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48840"/>
            <a:ext cx="10835640" cy="566928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观察维度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40280"/>
            <a:ext cx="7315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用装置后，与直接说相比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770632"/>
            <a:ext cx="10835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9503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响度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98648"/>
            <a:ext cx="7406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3944"/>
                </a:solidFill>
                <a:latin typeface="Noto Sans CJK SC"/>
              </a:defRPr>
            </a:pPr>
            <a:r>
              <a:t>更响 / 差不多 / 更轻 / 不确定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593591"/>
            <a:ext cx="10835640" cy="749808"/>
          </a:xfrm>
          <a:prstGeom prst="rect">
            <a:avLst/>
          </a:prstGeom>
          <a:solidFill>
            <a:srgbClr val="DCE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12463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音色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21607"/>
            <a:ext cx="7406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3944"/>
                </a:solidFill>
                <a:latin typeface="Noto Sans CJK SC"/>
              </a:defRPr>
            </a:pPr>
            <a:r>
              <a:t>有什么不同？嗡嗡、回响或其他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416552"/>
            <a:ext cx="10835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35424"/>
            <a:ext cx="23774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335AC0"/>
                </a:solidFill>
                <a:latin typeface="Noto Sans CJK SC"/>
              </a:defRPr>
            </a:pPr>
            <a:r>
              <a:t>清晰度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544568"/>
            <a:ext cx="7406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173944"/>
                </a:solidFill>
                <a:latin typeface="Noto Sans CJK SC"/>
              </a:defRPr>
            </a:pPr>
            <a:r>
              <a:t>更清楚 / 差不多 / 更模糊 / 不确定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73944"/>
                </a:solidFill>
                <a:latin typeface="Noto Sans CJK SC"/>
              </a:defRPr>
            </a:pPr>
            <a:r>
              <a:t>低年级圈选或画图；高年级补充证据。不确定也可以记录。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1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35AC0"/>
                </a:solidFill>
                <a:latin typeface="Noto Sans CJK SC"/>
              </a:defRPr>
            </a:pPr>
            <a:r>
              <a:t>05  /  比较声音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31—39分钟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我们的发现，有证据吗？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35AC0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40280"/>
            <a:ext cx="23774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335AC0"/>
                </a:solidFill>
                <a:latin typeface="Noto Sans CJK SC"/>
              </a:defRPr>
            </a:pPr>
            <a: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240280"/>
            <a:ext cx="78638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我们听到……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23774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335AC0"/>
                </a:solidFill>
                <a:latin typeface="Noto Sans CJK SC"/>
              </a:defRPr>
            </a:pPr>
            <a:r>
              <a:t>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246120"/>
            <a:ext cx="78638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我们保持了……重复了……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23774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335AC0"/>
                </a:solidFill>
                <a:latin typeface="Noto Sans CJK SC"/>
              </a:defRPr>
            </a:pPr>
            <a:r>
              <a:t>新问题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251960"/>
            <a:ext cx="78638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我们还不能确定……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96712"/>
            <a:ext cx="10515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335AC0"/>
                </a:solidFill>
                <a:latin typeface="Noto Sans CJK SC"/>
              </a:defRPr>
            </a:pPr>
            <a:r>
              <a:t>不同小组可以有不同结果，先如实记录。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6D7D0"/>
                </a:solidFill>
                <a:latin typeface="Noto Sans CJK SC"/>
              </a:defRPr>
            </a:pPr>
            <a:r>
              <a:t>06  /  理解原理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39—45分钟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声音的线索：振动 → 传播 → 听到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76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6D7D0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31720"/>
            <a:ext cx="3154680" cy="3063240"/>
          </a:xfrm>
          <a:prstGeom prst="roundRect">
            <a:avLst>
              <a:gd name="adj" fmla="val 9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24912"/>
            <a:ext cx="265176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76D7D0"/>
                </a:solidFill>
                <a:latin typeface="Noto Sans CJK SC"/>
              </a:defRPr>
            </a:pPr>
            <a:r>
              <a:t>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85032"/>
            <a:ext cx="2651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我们说话时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声带在振动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3383280"/>
            <a:ext cx="566928" cy="347472"/>
          </a:xfrm>
          <a:prstGeom prst="rightArrow">
            <a:avLst/>
          </a:prstGeom>
          <a:solidFill>
            <a:srgbClr val="76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2331720"/>
            <a:ext cx="3154680" cy="3063240"/>
          </a:xfrm>
          <a:prstGeom prst="roundRect">
            <a:avLst>
              <a:gd name="adj" fmla="val 9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724912"/>
            <a:ext cx="265176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76D7D0"/>
                </a:solidFill>
                <a:latin typeface="Noto Sans CJK SC"/>
              </a:defRPr>
            </a:pPr>
            <a:r>
              <a:t>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3685032"/>
            <a:ext cx="2651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声音通过空气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来到耳朵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18120" y="3383280"/>
            <a:ext cx="566928" cy="347472"/>
          </a:xfrm>
          <a:prstGeom prst="rightArrow">
            <a:avLst/>
          </a:prstGeom>
          <a:solidFill>
            <a:srgbClr val="76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2331720"/>
            <a:ext cx="3154680" cy="3063240"/>
          </a:xfrm>
          <a:prstGeom prst="roundRect">
            <a:avLst>
              <a:gd name="adj" fmla="val 9000"/>
            </a:avLst>
          </a:prstGeom>
          <a:solidFill>
            <a:srgbClr val="234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2724912"/>
            <a:ext cx="265176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500" b="1">
                <a:solidFill>
                  <a:srgbClr val="76D7D0"/>
                </a:solidFill>
                <a:latin typeface="Noto Sans CJK SC"/>
              </a:defRPr>
            </a:pPr>
            <a:r>
              <a:t>听感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685032"/>
            <a:ext cx="2651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装置可能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改变听到的声音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69848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BEE3E4"/>
                </a:solidFill>
                <a:latin typeface="Noto Sans CJK SC"/>
              </a:defRPr>
            </a:pPr>
            <a:r>
              <a:t>整体装置的比较，还不能证明弹簧单独起了什么作用。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6D7D0"/>
                </a:solidFill>
                <a:latin typeface="Noto Sans CJK SC"/>
              </a:defRPr>
            </a:pPr>
            <a:r>
              <a:t>06  /  理解原理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FFFFFF"/>
                </a:solidFill>
                <a:latin typeface="Noto Sans CJK SC"/>
              </a:defRPr>
            </a:pPr>
            <a:r>
              <a:t>39—45分钟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t>同样研究声音，工作方式却不同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76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416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6D7D0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94560"/>
            <a:ext cx="5074920" cy="3474720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06040"/>
            <a:ext cx="44805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我们的装置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448056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纸杯 + 弹簧 + 筒</a:t>
            </a:r>
          </a:p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没有电源</a:t>
            </a:r>
          </a:p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效果以观察为准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94560"/>
            <a:ext cx="5074920" cy="3474720"/>
          </a:xfrm>
          <a:prstGeom prst="roundRect">
            <a:avLst>
              <a:gd name="adj" fmla="val 9000"/>
            </a:avLst>
          </a:prstGeom>
          <a:solidFill>
            <a:srgbClr val="335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606040"/>
            <a:ext cx="44805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电子扩音器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85032"/>
            <a:ext cx="448056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麦克风接收声音</a:t>
            </a:r>
          </a:p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电路使用电能</a:t>
            </a:r>
          </a:p>
          <a:p>
            <a:pPr>
              <a:spcAft>
                <a:spcPts val="1000"/>
              </a:spcAft>
              <a:defRPr sz="2700" b="0">
                <a:solidFill>
                  <a:srgbClr val="FFFFFF"/>
                </a:solidFill>
                <a:latin typeface="Noto Sans CJK SC"/>
              </a:defRPr>
            </a:pPr>
            <a:r>
              <a:t>扬声器发出声音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79592"/>
            <a:ext cx="103327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BEE3E4"/>
                </a:solidFill>
                <a:latin typeface="Noto Sans CJK SC"/>
              </a:defRPr>
            </a:pPr>
            <a:r>
              <a:t>本套教具没有电子音圈，也没有电子放大电路。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07  /  收获与整理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45—50分钟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小小判断题：你能说明理由吗？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240280"/>
            <a:ext cx="658368" cy="658368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2331720"/>
            <a:ext cx="36576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313432"/>
            <a:ext cx="8549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173944"/>
                </a:solidFill>
                <a:latin typeface="Noto Sans CJK SC"/>
              </a:defRPr>
            </a:pPr>
            <a:r>
              <a:t>声音不需要振动，也能产生。</a:t>
            </a:r>
          </a:p>
        </p:txBody>
      </p:sp>
      <p:sp>
        <p:nvSpPr>
          <p:cNvPr id="17" name="Oval 16"/>
          <p:cNvSpPr/>
          <p:nvPr/>
        </p:nvSpPr>
        <p:spPr>
          <a:xfrm>
            <a:off x="10789920" y="2331720"/>
            <a:ext cx="411480" cy="41148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291840"/>
            <a:ext cx="658368" cy="658368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383280"/>
            <a:ext cx="36576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3364992"/>
            <a:ext cx="8549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173944"/>
                </a:solidFill>
                <a:latin typeface="Noto Sans CJK SC"/>
              </a:defRPr>
            </a:pPr>
            <a:r>
              <a:t>声音变了，就一定是更响了。</a:t>
            </a:r>
          </a:p>
        </p:txBody>
      </p:sp>
      <p:sp>
        <p:nvSpPr>
          <p:cNvPr id="21" name="Oval 20"/>
          <p:cNvSpPr/>
          <p:nvPr/>
        </p:nvSpPr>
        <p:spPr>
          <a:xfrm>
            <a:off x="10789920" y="3383280"/>
            <a:ext cx="411480" cy="41148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343400"/>
            <a:ext cx="658368" cy="658368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434840"/>
            <a:ext cx="365760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4416552"/>
            <a:ext cx="8549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173944"/>
                </a:solidFill>
                <a:latin typeface="Noto Sans CJK SC"/>
              </a:defRPr>
            </a:pPr>
            <a:r>
              <a:t>重复比较一次，能帮助判断。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0" y="4434840"/>
            <a:ext cx="411480" cy="41148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07  /  收获与整理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45—50分钟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把今天的收获，讲给同伴听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240280"/>
            <a:ext cx="3200400" cy="1417320"/>
          </a:xfrm>
          <a:prstGeom prst="roundRect">
            <a:avLst>
              <a:gd name="adj" fmla="val 9000"/>
            </a:avLst>
          </a:prstGeom>
          <a:solidFill>
            <a:srgbClr val="08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60904"/>
            <a:ext cx="26517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Noto Sans CJK SC"/>
              </a:defRPr>
            </a:pPr>
            <a:r>
              <a:t>一至二年级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59152"/>
            <a:ext cx="65836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我做出了……</a:t>
            </a:r>
          </a:p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我听到了……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3200400" cy="1417320"/>
          </a:xfrm>
          <a:prstGeom prst="roundRect">
            <a:avLst>
              <a:gd name="adj" fmla="val 9000"/>
            </a:avLst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89704"/>
            <a:ext cx="26517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  <a:latin typeface="Noto Sans CJK SC"/>
              </a:defRPr>
            </a:pPr>
            <a:r>
              <a:t>三至四年级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87952"/>
            <a:ext cx="65836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我的证据是……</a:t>
            </a:r>
          </a:p>
          <a:p>
            <a:pPr>
              <a:spcAft>
                <a:spcPts val="1000"/>
              </a:spcAft>
              <a:defRPr sz="2900" b="0">
                <a:solidFill>
                  <a:srgbClr val="173944"/>
                </a:solidFill>
                <a:latin typeface="Noto Sans CJK SC"/>
              </a:defRPr>
            </a:pPr>
            <a:r>
              <a:t>我还想验证……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049A7"/>
                </a:solidFill>
                <a:latin typeface="Noto Sans CJK SC"/>
              </a:defRPr>
            </a:pPr>
            <a:r>
              <a:t>07  /  收获与整理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8280" y="347472"/>
            <a:ext cx="2560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173944"/>
                </a:solidFill>
                <a:latin typeface="Noto Sans CJK SC"/>
              </a:defRPr>
            </a:pPr>
            <a:r>
              <a:t>45—50分钟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73944"/>
                </a:solidFill>
                <a:latin typeface="Noto Sans CJK SC"/>
              </a:defRPr>
            </a:pPr>
            <a:r>
              <a:t>带着新问题，整理后再出发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7864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01368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6373368"/>
            <a:ext cx="219456" cy="73152"/>
          </a:xfrm>
          <a:prstGeom prst="rect">
            <a:avLst/>
          </a:prstGeom>
          <a:solidFill>
            <a:srgbClr val="CED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4872" y="6373368"/>
            <a:ext cx="219456" cy="73152"/>
          </a:xfrm>
          <a:prstGeom prst="rect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6364224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173944"/>
                </a:solidFill>
                <a:latin typeface="Noto Sans CJK SC"/>
              </a:defRPr>
            </a:pPr>
            <a:r>
              <a:t>DIY扩音器  /  提问 · 动手 · 观察 · 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327648"/>
            <a:ext cx="5486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7049A7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286000"/>
            <a:ext cx="594360" cy="5943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36829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28600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7049A7"/>
                </a:solidFill>
                <a:latin typeface="Noto Sans CJK SC"/>
              </a:defRPr>
            </a:pPr>
            <a:r>
              <a:t>收好装置与零件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13432"/>
            <a:ext cx="69494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</a:p>
        </p:txBody>
      </p:sp>
      <p:sp>
        <p:nvSpPr>
          <p:cNvPr id="18" name="Oval 17"/>
          <p:cNvSpPr/>
          <p:nvPr/>
        </p:nvSpPr>
        <p:spPr>
          <a:xfrm>
            <a:off x="640080" y="3291840"/>
            <a:ext cx="594360" cy="5943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37413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9184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7049A7"/>
                </a:solidFill>
                <a:latin typeface="Noto Sans CJK SC"/>
              </a:defRPr>
            </a:pPr>
            <a:r>
              <a:t>损坏材料交给老师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19272"/>
            <a:ext cx="69494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</a:p>
        </p:txBody>
      </p:sp>
      <p:sp>
        <p:nvSpPr>
          <p:cNvPr id="22" name="Oval 21"/>
          <p:cNvSpPr/>
          <p:nvPr/>
        </p:nvSpPr>
        <p:spPr>
          <a:xfrm>
            <a:off x="640080" y="4297680"/>
            <a:ext cx="594360" cy="594360"/>
          </a:xfrm>
          <a:prstGeom prst="ellipse">
            <a:avLst/>
          </a:prstGeom>
          <a:solidFill>
            <a:srgbClr val="704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379976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297680"/>
            <a:ext cx="283464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7049A7"/>
                </a:solidFill>
                <a:latin typeface="Noto Sans CJK SC"/>
              </a:defRPr>
            </a:pPr>
            <a:r>
              <a:t>清理桌面、洗手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25112"/>
            <a:ext cx="69494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173944"/>
                </a:solidFill>
                <a:latin typeface="Noto Sans CJK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766560" y="2377440"/>
            <a:ext cx="4480560" cy="2468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087C86"/>
                </a:solidFill>
                <a:latin typeface="Noto Sans CJK SC"/>
              </a:defRPr>
            </a:pPr>
            <a:r>
              <a:t>今天的发现，</a:t>
            </a:r>
          </a:p>
          <a:p>
            <a:pPr>
              <a:spcAft>
                <a:spcPts val="1000"/>
              </a:spcAft>
              <a:defRPr sz="3400" b="1">
                <a:solidFill>
                  <a:srgbClr val="087C86"/>
                </a:solidFill>
                <a:latin typeface="Noto Sans CJK SC"/>
              </a:defRPr>
            </a:pPr>
            <a:r>
              <a:t>是下一次探索</a:t>
            </a:r>
          </a:p>
          <a:p>
            <a:pPr>
              <a:spcAft>
                <a:spcPts val="1000"/>
              </a:spcAft>
              <a:defRPr sz="3400" b="1">
                <a:solidFill>
                  <a:srgbClr val="087C86"/>
                </a:solidFill>
                <a:latin typeface="Noto Sans CJK SC"/>
              </a:defRPr>
            </a:pPr>
            <a:r>
              <a:t>的起点。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