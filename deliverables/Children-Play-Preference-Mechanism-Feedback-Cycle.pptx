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上一版复刻图上半部的文字、布局、黑白宋体风格、尺寸和线宽。仅重排体验反馈之后的分流：向下为积极反馈，其后是积极反馈→再次选择→再次参与→积极反馈的顺时针循环，中央持续参与；右侧反馈不足直接沿虚线回到游戏接触与选择。持续参与循环下接相对稳定偏好，再分为偏好线上和偏好线下。所有对象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5843" y="357187"/>
            <a:ext cx="5243512" cy="85725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7281" y="442912"/>
            <a:ext cx="5100637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现实选择条件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8712" y="821531"/>
            <a:ext cx="505777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他人参与与引介｜成人支持与调节｜游戏资源可获得性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1214437"/>
            <a:ext cx="0" cy="314325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28862" y="1528762"/>
            <a:ext cx="2657475" cy="542925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64581" y="1543050"/>
            <a:ext cx="2586037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游戏接触与选择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414587" y="2071687"/>
            <a:ext cx="685800" cy="435769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14812" y="2071687"/>
            <a:ext cx="692944" cy="435769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42975" y="2514600"/>
            <a:ext cx="2450306" cy="55006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693" y="2528887"/>
            <a:ext cx="2378868" cy="5214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线上游戏参与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1918" y="2514600"/>
            <a:ext cx="2450306" cy="55006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7637" y="2528887"/>
            <a:ext cx="2378868" cy="5214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线下游戏参与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78843" y="3064668"/>
            <a:ext cx="0" cy="207169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36356" y="3064668"/>
            <a:ext cx="0" cy="207169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78843" y="3271837"/>
            <a:ext cx="2957513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3271837"/>
            <a:ext cx="0" cy="28575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43137" y="3557587"/>
            <a:ext cx="2828925" cy="542925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78856" y="3571875"/>
            <a:ext cx="2757487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游戏体验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4100512"/>
            <a:ext cx="0" cy="34290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28812" y="4443412"/>
            <a:ext cx="3457575" cy="12573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8825" y="4536281"/>
            <a:ext cx="3257550" cy="3857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1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体验匹配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21693" y="4957762"/>
            <a:ext cx="3071813" cy="0"/>
          </a:xfrm>
          <a:prstGeom prst="line">
            <a:avLst/>
          </a:prstGeom>
          <a:ln w="1000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35968" y="5029200"/>
            <a:ext cx="3243262" cy="27860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游戏体验 × 当前体验诉求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5968" y="5329237"/>
            <a:ext cx="3243262" cy="2714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关系｜自主｜挑战｜角色｜创造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0" y="5700712"/>
            <a:ext cx="0" cy="235744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2700337" y="5936456"/>
            <a:ext cx="1914525" cy="800100"/>
          </a:xfrm>
          <a:prstGeom prst="diamond">
            <a:avLst/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36056" y="5950743"/>
            <a:ext cx="1843087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体验反馈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0" y="6736556"/>
            <a:ext cx="0" cy="121444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14862" y="6336506"/>
            <a:ext cx="1207294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22156" y="6336506"/>
            <a:ext cx="0" cy="521494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586037" y="6858000"/>
            <a:ext cx="2143125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1756" y="6872287"/>
            <a:ext cx="2071687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积极反馈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00625" y="6858000"/>
            <a:ext cx="1650206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36343" y="6872287"/>
            <a:ext cx="1578768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反馈不足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85900" y="7750968"/>
            <a:ext cx="1514475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21618" y="7765256"/>
            <a:ext cx="1443037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再次参与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14825" y="7750968"/>
            <a:ext cx="1514475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0543" y="7765256"/>
            <a:ext cx="1443037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再次选择</a:t>
            </a:r>
          </a:p>
        </p:txBody>
      </p:sp>
      <p:sp>
        <p:nvSpPr>
          <p:cNvPr id="40" name="Oval 39"/>
          <p:cNvSpPr/>
          <p:nvPr/>
        </p:nvSpPr>
        <p:spPr>
          <a:xfrm>
            <a:off x="3136106" y="7465218"/>
            <a:ext cx="1057275" cy="105727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71825" y="7479506"/>
            <a:ext cx="985837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31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持续参与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6250" y="7358062"/>
            <a:ext cx="785812" cy="392906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0" y="0"/>
                </a:moveTo>
                <a:cubicBezTo>
                  <a:pt x="51818" y="18182"/>
                  <a:pt x="89091" y="56364"/>
                  <a:pt x="100000" y="100000"/>
                </a:cubicBezTo>
              </a:path>
            </a:pathLst>
          </a:custGeom>
          <a:noFill/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43137" y="8251031"/>
            <a:ext cx="2828925" cy="371475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100000" y="0"/>
                </a:moveTo>
                <a:cubicBezTo>
                  <a:pt x="82323" y="100000"/>
                  <a:pt x="16667" y="100000"/>
                  <a:pt x="0" y="0"/>
                </a:cubicBezTo>
              </a:path>
            </a:pathLst>
          </a:custGeom>
          <a:noFill/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43137" y="7358062"/>
            <a:ext cx="514350" cy="392906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0" y="100000"/>
                </a:moveTo>
                <a:cubicBezTo>
                  <a:pt x="16667" y="50909"/>
                  <a:pt x="50000" y="18182"/>
                  <a:pt x="100000" y="0"/>
                </a:cubicBezTo>
              </a:path>
            </a:pathLst>
          </a:custGeom>
          <a:noFill/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650831" y="7108031"/>
            <a:ext cx="278606" cy="0"/>
          </a:xfrm>
          <a:prstGeom prst="line">
            <a:avLst/>
          </a:prstGeom>
          <a:ln w="20002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929437" y="1793081"/>
            <a:ext cx="0" cy="5314950"/>
          </a:xfrm>
          <a:prstGeom prst="line">
            <a:avLst/>
          </a:prstGeom>
          <a:ln w="20002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4986337" y="1793081"/>
            <a:ext cx="1943100" cy="0"/>
          </a:xfrm>
          <a:prstGeom prst="line">
            <a:avLst/>
          </a:prstGeom>
          <a:ln w="20002">
            <a:solidFill>
              <a:srgbClr val="000000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657600" y="8529637"/>
            <a:ext cx="0" cy="264319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428875" y="8793956"/>
            <a:ext cx="2457450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4593" y="8808243"/>
            <a:ext cx="2386012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相对稳定偏好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657600" y="9294018"/>
            <a:ext cx="0" cy="157163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35981" y="9451181"/>
            <a:ext cx="3043237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135981" y="9451181"/>
            <a:ext cx="0" cy="242887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79218" y="9451181"/>
            <a:ext cx="0" cy="242887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021556" y="9694068"/>
            <a:ext cx="2235993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7275" y="9708356"/>
            <a:ext cx="2164556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偏好线上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64793" y="9694068"/>
            <a:ext cx="2235993" cy="50006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00512" y="9708356"/>
            <a:ext cx="2164556" cy="47148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偏好线下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937" y="10358437"/>
            <a:ext cx="6029325" cy="4143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6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图 1  幼儿虚实游戏偏好的形成与分化机制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