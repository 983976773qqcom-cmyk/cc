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【时间】0—1分钟，约1分钟。</a:t>
            </a:r>
          </a:p>
          <a:p>
            <a:r>
              <a:t>【教学目标与引导】展示成品，说明今天先用一小时认识声音与扩音，再用半小时制作并验证。名称沿用原教材，但装置是否更响不预设。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【时间】1—3分钟，约2分钟。</a:t>
            </a:r>
          </a:p>
          <a:p>
            <a:r>
              <a:t>【教学目标与引导】逐项展示目标，不先给出最终答案。把声源振动、响度与音调的区别、装置验证作为核心。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【时间】3—6分钟，约3分钟。</a:t>
            </a:r>
          </a:p>
          <a:p>
            <a:r>
              <a:t>【教学目标与引导】描述操场很吵、同伴很远、说话方向不同三种情境；不一开始就把问题归为声音不够大。收集学生生活经验，板书距离、噪声、方向。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【时间】6—6.5分钟，约0.5分钟。</a:t>
            </a:r>
          </a:p>
          <a:p>
            <a:r>
              <a:t>【教学目标与引导】将情境问题转到知识先备。提示所有声音都需要声源振动，本节先找到振动证据。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【时间】6.5—9分钟，约2.5分钟。</a:t>
            </a:r>
          </a:p>
          <a:p>
            <a:r>
              <a:t>【教学目标与引导】用嗓音、鼓面和吉他弦举例；后两项为示意实例，不要求现场有这些器材。振动可能很快或很小，不一定肉眼可见。不能把整个物体移动与振动混为一谈。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【时间】9—12分钟，约3分钟。</a:t>
            </a:r>
          </a:p>
          <a:p>
            <a:r>
              <a:t>【教学目标与引导】教师示范指腹轻放自己喉咙外侧，正常音量说啊，再停止。只能轻触，不能按压，也不碰同伴。解释本活动感受到的是与发声相关的振动。课堂互动属于前段知识学习，并非提前发放制作材料。</a:t>
            </a:r>
          </a:p>
          <a:p>
            <a:r>
              <a:t>【混龄支持】一至二年级：说出发声与停下的感觉不同。</a:t>
            </a:r>
          </a:p>
          <a:p>
            <a:r>
              <a:t>三至四年级：用“发声时……停止时……”描述证据，而不是只复述结论。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【时间】12—14分钟，约2分钟。</a:t>
            </a:r>
          </a:p>
          <a:p>
            <a:r>
              <a:t>【教学目标与引导】明确知识结论。肉眼看不到振动不代表没有振动，不能把喉咙感觉作为所有发声现象的唯一证明。用声带和扬声器振膜为例，具体设备可在视频或示意中观察。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【时间】14—16分钟，约2分钟。</a:t>
            </a:r>
          </a:p>
          <a:p>
            <a:r>
              <a:t>【教学目标与引导】播放42秒原创示意动画。第12秒暂停提问声源怎样运动；第28秒暂停提问橙色空气微粒是否跑到了耳朵；最后看鼓膜响应。播放含讨论共2分钟。标明是模型，不是显微摄影，不按实际速度和大小。</a:t>
            </a:r>
          </a:p>
          <a:p>
            <a:r>
              <a:t>【混龄支持】一至二年级：指认声源、空气、耳朵三处。</a:t>
            </a:r>
          </a:p>
          <a:p>
            <a:r>
              <a:t>三至四年级：说明微粒在平衡位置附近运动，与振动向前传播不同。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【时间】16—18分钟，约2分钟。</a:t>
            </a:r>
          </a:p>
          <a:p>
            <a:r>
              <a:t>【教学目标与引导】先让学生回答再揭示。预期声源来回运动；空气微粒在原位置附近振动；鼓膜响应到达的声波。不要要求低年级使用声压、分子等术语。引出下个问题：怎样从声源来到耳朵。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【时间】18—18.5分钟，约0.5分钟。</a:t>
            </a:r>
          </a:p>
          <a:p>
            <a:r>
              <a:t>【教学目标与引导】转换到传播路径，重新说清源与接收者之间需要介质，空气是日常情境最常见的介质。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【时间】18.5—22分钟，约3.5分钟。</a:t>
            </a:r>
          </a:p>
          <a:p>
            <a:r>
              <a:t>【教学目标与引导】用链条解释声源振动引起周围空气扰动，扰动通过空气传播，传到耳朵引起鼓膜振动。鼓膜不是声音来源，不把粒子画成从声源一直飞到耳朵。示意图中的箭头表示传播关系。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【时间】22—25分钟，约3分钟。</a:t>
            </a:r>
          </a:p>
          <a:p>
            <a:r>
              <a:t>【教学目标与引导】回看动画的橙色微粒，配合手指在桌上小幅往返的示意。可以说像依次传递消息，但明确只是类比，不是真实手递手。声音在空气中传播可发生在无明显气流的情况下。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【时间】25—28分钟，约3分钟。</a:t>
            </a:r>
          </a:p>
          <a:p>
            <a:r>
              <a:t>【教学目标与引导】学生先预测。随后明确声音也能在固体与液体中传播，用桌板、金属和水举例；不要求学生把耳朵贴桌接受敲击，不额外安排未准备的危险演示。不同介质的速度等不列为低年级必学，不把水中听感等同空气中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【时间】28—30分钟，约2分钟。</a:t>
            </a:r>
          </a:p>
          <a:p>
            <a:r>
              <a:t>【教学目标与引导】先讨论影视里太空爆炸声音。理想真空不能传播普通机械声波。宇航员通过无线电设备交流，信号形式不是直接穿过真空的空气声波。强调讨论的是没有物质介质的理想情况，不在课堂做抽真空实验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【时间】30—30.5分钟，约0.5分钟。</a:t>
            </a:r>
          </a:p>
          <a:p>
            <a:r>
              <a:t>【教学目标与引导】先用生活词汇解释三个维度。不要将声音大与音调高混为一谈，接下来先比较同一声源的响度，再比较快慢。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【时间】30.5—33分钟，约2.5分钟。</a:t>
            </a:r>
          </a:p>
          <a:p>
            <a:r>
              <a:t>【教学目标与引导】用同一句话轻声、正常音量对比，禁止大喊。对同一声源、相似距离和条件，较大的振动幅度通常对应较大声压，听起来可能更响；距离和环境也会影响听感。不给孩子绝对单因素公式。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【时间】33—35.5分钟，约2.5分钟。</a:t>
            </a:r>
          </a:p>
          <a:p>
            <a:r>
              <a:t>【教学目标与引导】使用视频中的纯音作后续对比，先用波形每相同时间振动次数不同示意。通常振动频率越高音调越高。“尖/低沉”仅作生活描述，不把响度大小和音调高低对应。音调高低与频率的关系用通常，复杂声不展开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【时间】35.5—38.5分钟，约3分钟。</a:t>
            </a:r>
          </a:p>
          <a:p>
            <a:r>
              <a:t>【教学目标与引导】54秒视频有声音，课前预听并调至舒适音量。第一段基准纯音330Hz，第二段同频率、声压幅度设为2倍，第三段660Hz、幅度与基准相同。学生无需记数值。第18、36秒可暂停。说明相同图示幅度不保证不同频率主观响度完全相同，重点是频率与振幅为不同维度。播放器音效和设备会影响感受，不以学生听感不一致判错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【时间】38.5—40.5分钟，约2分钟。</a:t>
            </a:r>
          </a:p>
          <a:p>
            <a:r>
              <a:t>【教学目标与引导】同一句话由老师与一名学生以正常音量说出，让学生讨论声音特色，不做嗓音嘲笑。音色是与声音频谱和时间特性相关的品质，此处用可区分声音来源的特色解释，不称作声音颜色或只由材质决定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【时间】40.5—42分钟，约1.5分钟。</a:t>
            </a:r>
          </a:p>
          <a:p>
            <a:r>
              <a:t>【教学目标与引导】快速口头归类。更响为响度；更尖/音调更高为音调；认出妈妈声音为音色。若学生说更清楚，不应强行塞进三项，它还与环境、语言、距离等相关。这是形成性评价，发现混淆及时重述。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【时间】42—42.5分钟，约0.5分钟。</a:t>
            </a:r>
          </a:p>
          <a:p>
            <a:r>
              <a:t>【教学目标与引导】先区分让声音听清的办法，再介绍非电子与电子两类装置；最后回到本教具，不能直接套用电子原理。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【时间】42.5—45分钟，约2.5分钟。</a:t>
            </a:r>
          </a:p>
          <a:p>
            <a:r>
              <a:t>【教学目标与引导】回扣导入的距离、噪声、方向。靠近、减小背景噪声、朝向听众可能改善听清，不都等于增加声源总声能。保护嗓音，不鼓励长时间喊叫。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【时间】45—47分钟，约2分钟。</a:t>
            </a:r>
          </a:p>
          <a:p>
            <a:r>
              <a:t>【教学目标与引导】说明非电子号筒可能改变声音传出方向及声源与空气耦合，使某些方向更容易听见；不凭装置外观断言有固定增益。下面形状只是喇叭口示意，不是本课件实物。可把纸号筒作为课后安全拓展，不新增当堂制作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【时间】47—50分钟，约3分钟。</a:t>
            </a:r>
          </a:p>
          <a:p>
            <a:r>
              <a:t>【教学目标与引导】分开声音与电信号：麦克风将声音信息转为电信号，放大电路使用电能处理/放大信号，扬声器把电信号转为振动发声。电源接在电路和输出设备，不画成声波直接流经电池。音圈是某些扬声器结构组成，不能用来解释没有电路的纸杯套件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【时间】50—52分钟，约2分钟。</a:t>
            </a:r>
          </a:p>
          <a:p>
            <a:r>
              <a:t>【教学目标与引导】展示图片：纸杯、弹簧、透明筒，没有电源、麦克风或电子放大电路；因此称非电子声学装置，教材仍用DIY扩音器名称。杯、筒、弹簧和空气响应可能影响听感，但具体效果需试装、比较，不承诺更响，也不将本课整体对比说成单独证明弹簧贡献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【时间】52—55分钟，约3分钟。</a:t>
            </a:r>
          </a:p>
          <a:p>
            <a:r>
              <a:t>【教学目标与引导】答案依次：错、错、错。第一题振动产生声音；第二题音调与响度不同；第三题本装置没有电子电路。让低年级用手势判断，高年级给理由。不要先展示答案，备注仅教师可见。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【时间】55—57分钟，约2分钟。</a:t>
            </a:r>
          </a:p>
          <a:p>
            <a:r>
              <a:t>【教学目标与引导】回顾响度/音色等维度。提供更响、更轻、音色变化、无明显变化或不确定多种可能。高年级写依据；不接受“名字叫扩音器所以一定更响”作为足够证据。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【时间】57—60分钟，约3分钟。</a:t>
            </a:r>
          </a:p>
          <a:p>
            <a:r>
              <a:t>【教学目标与引导】让学生设计公平比较：同一说话者、同一句话、嘴与听者位置和方向相同，尽量同一正常音量与安静环境。标记位置。先A后B，再B后A减少顺序影响。不能完全控制人声，因此结果是主观比较而非精确测量。完成概念段，60分钟后发放材料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【时间】60—62分钟，约2分钟。</a:t>
            </a:r>
          </a:p>
          <a:p>
            <a:r>
              <a:t>【教学目标与引导】进入后30分钟。材料图片来自原PPT第7页，依次为透明筒、弹簧、棉线、小杯、大杯。两人轮流操作与检查；高年级不包办。教师课前预打孔、试装、预听两段视频；现场有备用成品参与验证。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【时间】62—64分钟，约2分钟。</a:t>
            </a:r>
          </a:p>
          <a:p>
            <a:r>
              <a:t>【教学目标与引导】教师提前打孔，检查杯孔与弹簧、筒径匹配，处理锐边/端头。所有打孔和剪线由教师完成；禁止猛拉弹簧、细线缠身和贴耳试音。先看演示再操作。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【时间】64—69分钟，约5分钟。</a:t>
            </a:r>
          </a:p>
          <a:p>
            <a:r>
              <a:t>【教学目标与引导】64—69分钟。只使用预打孔纸杯，不让学生用弹簧刺穿杯底。教师检查连接并帮助低年级。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【时间】69—73分钟，约4分钟。</a:t>
            </a:r>
          </a:p>
          <a:p>
            <a:r>
              <a:t>【教学目标与引导】69—73分钟。示范打结，必要时协助。只轻查线结，不用拉扯测试强度。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【时间】73—78分钟，约5分钟。</a:t>
            </a:r>
          </a:p>
          <a:p>
            <a:r>
              <a:t>【教学目标与引导】73—78分钟。对照图片保持杯筒方向，不自行钻孔、扩孔或挤压纸杯。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【时间】78—82分钟，约4分钟。</a:t>
            </a:r>
          </a:p>
          <a:p>
            <a:r>
              <a:t>【教学目标与引导】78—82分钟。教师检查两端、安全端头及纸杯破损；备用成品用于进度较慢的小组。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【时间】82—83分钟，约1分钟。</a:t>
            </a:r>
          </a:p>
          <a:p>
            <a:r>
              <a:t>【教学目标与引导】逐组检查，安全不因时间紧省略。发现松动、杯底破裂或危险端头停止使用，由教师修复/替换。接着分组试音，避免全班同时说话。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【时间】83—85.5分钟，约2.5分钟。</a:t>
            </a:r>
          </a:p>
          <a:p>
            <a:r>
              <a:t>【教学目标与引导】分组按课前设计执行，两轮保持同一人、同一句话和位置、尽量相同音量，第二轮换顺序。A不用装置，B对大杯口说。人的音量和设备方向难完全控制，记录真实听感，重复不一致也有效。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【时间】85.5—87分钟，约1.5分钟。</a:t>
            </a:r>
          </a:p>
          <a:p>
            <a:r>
              <a:t>【教学目标与引导】低年级圈选/口述，高年级补一句证据。清晰度不是三要素之一，是实际课堂沟通的观察维度。主观测听不称精确增益或声压测量。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【时间】87—88.5分钟，约1.5分钟。</a:t>
            </a:r>
          </a:p>
          <a:p>
            <a:r>
              <a:t>【教学目标与引导】低年级说一个收获即可。高年级依据控制条件和两轮比较说发现，并指出不足。科学解释保持审慎：杯、筒、弹簧及空气响应可能影响声音，整体对比不能证明其中一件单独作用；本装置不是电子扩音器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【时间】88.5—90分钟，约1.5分钟。</a:t>
            </a:r>
          </a:p>
          <a:p>
            <a:r>
              <a:t>【教学目标与引导】收好材料、棉线和损坏件，不猛拉拆卸弹簧。清理垃圾、洗手。课后可向家人解释知识与比较发现，不要求独自使用尖锐工具再制作。教师记录实物效果，后续修改最初预测与故障指导。</a:t>
            </a:r>
          </a:p>
          <a:p>
            <a:r>
              <a:t>【混龄支持】一至二年级：允许口头、手势或简单词语表达；每次只给一个任务。</a:t>
            </a:r>
          </a:p>
          <a:p>
            <a:r>
              <a:t>三至四年级：补充理由，区分看到的现象、已有知识和还不能确定的推断。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microsoft.com/office/2007/relationships/media" Target="../media/media1.mp4"/><Relationship Id="rId5" Type="http://schemas.openxmlformats.org/officeDocument/2006/relationships/video" Target="../media/media1.mp4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microsoft.com/office/2007/relationships/media" Target="../media/media2.mp4"/><Relationship Id="rId5" Type="http://schemas.openxmlformats.org/officeDocument/2006/relationships/video" Target="../media/media2.mp4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01 / 科学挑战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0—1分钟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DIY扩音器：声音的秘密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40"/>
            <a:ext cx="5669280" cy="356616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23160"/>
            <a:ext cx="51206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先理解，再动手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5120640" cy="2194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前60分钟：认识声音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后30分钟：制作与验证</a:t>
            </a:r>
          </a:p>
        </p:txBody>
      </p:sp>
      <p:pic>
        <p:nvPicPr>
          <p:cNvPr id="18" name="Picture 17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434928"/>
            <a:ext cx="4663440" cy="3085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01 / 科学挑战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1—3分钟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今天，我们带着三个问题出发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声音从哪里来？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寻找正在振动的物体。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29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29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D85C29"/>
                </a:solidFill>
                <a:latin typeface="Noto Sans CJK SC"/>
              </a:defRPr>
            </a:pPr>
            <a:r>
              <a:t>听到的声音有何不同？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65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分清响度、音调与音色。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D85C29"/>
                </a:solidFill>
                <a:latin typeface="Noto Sans CJK SC"/>
              </a:defRPr>
            </a:pPr>
            <a:r>
              <a:t>工具怎样改变声音？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08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认识设备，再验证自己的装置。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01 / 科学挑战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3—6分钟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情境挑战：你说了，同伴为什么没听清？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777240" y="2286000"/>
            <a:ext cx="6675120" cy="210312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97480"/>
            <a:ext cx="603504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“请大家排好队！”</a:t>
            </a:r>
          </a:p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可是，同伴没有听清……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331720"/>
            <a:ext cx="338328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87C86"/>
                </a:solidFill>
                <a:latin typeface="Noto Sans CJK SC"/>
              </a:defRPr>
            </a:pPr>
            <a:r>
              <a:t>离得太远？</a:t>
            </a:r>
          </a:p>
          <a:p>
            <a:pPr>
              <a:spcAft>
                <a:spcPts val="1000"/>
              </a:spcAft>
              <a:defRPr sz="3100" b="1">
                <a:solidFill>
                  <a:srgbClr val="087C86"/>
                </a:solidFill>
                <a:latin typeface="Noto Sans CJK SC"/>
              </a:defRPr>
            </a:pPr>
            <a:r>
              <a:t>周围太吵？</a:t>
            </a:r>
          </a:p>
          <a:p>
            <a:pPr>
              <a:spcAft>
                <a:spcPts val="1000"/>
              </a:spcAft>
              <a:defRPr sz="3100" b="1">
                <a:solidFill>
                  <a:srgbClr val="087C86"/>
                </a:solidFill>
                <a:latin typeface="Noto Sans CJK SC"/>
              </a:defRPr>
            </a:pPr>
            <a:r>
              <a:t>朝向不对？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173944"/>
                </a:solidFill>
                <a:latin typeface="Noto Sans CJK SC"/>
              </a:defRPr>
            </a:pPr>
            <a:r>
              <a:t>想让别人听清，只有“使劲喊”这一种办法吗？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/ 声音与振动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6—6.5分钟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第一站：找到声音的来源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813816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087C86"/>
                </a:solidFill>
                <a:latin typeface="Noto Sans CJK SC"/>
              </a:defRPr>
            </a:pPr>
            <a:r>
              <a:t>你听见声音时，</a:t>
            </a:r>
          </a:p>
          <a:p>
            <a:pPr>
              <a:spcAft>
                <a:spcPts val="1000"/>
              </a:spcAft>
              <a:defRPr sz="3900" b="1">
                <a:solidFill>
                  <a:srgbClr val="087C86"/>
                </a:solidFill>
                <a:latin typeface="Noto Sans CJK SC"/>
              </a:defRPr>
            </a:pPr>
            <a:r>
              <a:t>哪里正在振动？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21945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8500" b="1">
                <a:solidFill>
                  <a:srgbClr val="087C86"/>
                </a:solidFill>
                <a:latin typeface="Noto Sans CJK S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/ 声音与振动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6.5—9分钟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发声的物体，藏着同一条线索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4688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2286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说话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3017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声带振动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4688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2779776"/>
            <a:ext cx="2286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敲鼓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297680"/>
            <a:ext cx="3017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鼓面振动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4688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779776"/>
            <a:ext cx="2286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弹琴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017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琴弦振动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87C86"/>
                </a:solidFill>
                <a:latin typeface="Noto Sans CJK SC"/>
              </a:defRPr>
            </a:pPr>
            <a:r>
              <a:t>振动：物体在某个位置附近来回运动。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/ 声音与振动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9—12分钟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用自己的声音，找振动证据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86000"/>
            <a:ext cx="4389120" cy="1417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7500" b="1">
                <a:solidFill>
                  <a:srgbClr val="087C86"/>
                </a:solidFill>
                <a:latin typeface="Noto Sans CJK SC"/>
              </a:defRPr>
            </a:pPr>
            <a:r>
              <a:t>啊——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44805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发声时，什么感觉？</a:t>
            </a:r>
          </a:p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停下来，什么感觉？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194560"/>
            <a:ext cx="5577840" cy="347472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468879"/>
            <a:ext cx="502920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轻轻做，仔细感受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5029200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① 指尖轻放喉咙外侧。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② 正常音量发声。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③ 停止，再比较。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/ 声音与振动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12—14分钟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声音由振动产生：看到与看不到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377440"/>
            <a:ext cx="4663440" cy="320040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411480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有些振动容易看见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11880"/>
            <a:ext cx="41148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琴弦、鼓面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可能观察到来回运动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77440"/>
            <a:ext cx="4663440" cy="3200400"/>
          </a:xfrm>
          <a:prstGeom prst="roundRect">
            <a:avLst>
              <a:gd name="adj" fmla="val 8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651760"/>
            <a:ext cx="411480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有些振动不容易看见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41148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运动很快、幅度很小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需要其他方法找证据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/ 声音与振动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14—16分钟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视频①：找到三处振动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15" name="Picture 14" descr="sound-propagation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19"/>
            <a:ext cx="6766560" cy="3806189"/>
          </a:xfrm>
          <a:prstGeom prst="rect">
            <a:avLst/>
          </a:prstGeom>
        </p:spPr>
      </p:pic>
      <p:pic>
        <p:nvPicPr>
          <p:cNvPr id="16" name="sound-propagatio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74519"/>
            <a:ext cx="6766560" cy="38061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18120" y="2240280"/>
            <a:ext cx="37033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87C86"/>
                </a:solidFill>
                <a:latin typeface="Noto Sans CJK SC"/>
              </a:defRPr>
            </a:pPr>
            <a:r>
              <a:t>带着问题观看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246120"/>
            <a:ext cx="3703320" cy="2148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声源怎样动？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空气微粒怎样动？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耳朵接收到什么？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521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3944"/>
                </a:solidFill>
                <a:latin typeface="Noto Sans CJK SC"/>
              </a:defRPr>
            </a:pPr>
            <a:r>
              <a:t>原创示意短片 · 点击画面播放；若无法播放，可使用配套MP4或示意图讲解。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/ 声音与振动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16—18分钟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视频复盘：振动不是“大幅度移动”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87C86"/>
                </a:solidFill>
                <a:latin typeface="Noto Sans CJK SC"/>
              </a:defRPr>
            </a:pPr>
            <a:r>
              <a:t>声源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在原位置附近来回运动。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7472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57015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7472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87C86"/>
                </a:solidFill>
                <a:latin typeface="Noto Sans CJK SC"/>
              </a:defRPr>
            </a:pPr>
            <a:r>
              <a:t>空气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51129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相邻区域依次受到影响。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66344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74573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6344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87C86"/>
                </a:solidFill>
                <a:latin typeface="Noto Sans CJK SC"/>
              </a:defRPr>
            </a:pPr>
            <a:r>
              <a:t>耳朵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70001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接收到传播来的振动。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E0D4"/>
                </a:solidFill>
                <a:latin typeface="Noto Sans CJK SC"/>
              </a:defRPr>
            </a:pPr>
            <a:r>
              <a:t>03 / 声音的传播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18—18.5分钟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第二站：声音怎样来到耳朵？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CE0D4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813816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7CE0D4"/>
                </a:solidFill>
                <a:latin typeface="Noto Sans CJK SC"/>
              </a:defRPr>
            </a:pPr>
            <a:r>
              <a:t>声音的旅行，</a:t>
            </a:r>
          </a:p>
          <a:p>
            <a:pPr>
              <a:spcAft>
                <a:spcPts val="1000"/>
              </a:spcAft>
              <a:defRPr sz="3900" b="1">
                <a:solidFill>
                  <a:srgbClr val="7CE0D4"/>
                </a:solidFill>
                <a:latin typeface="Noto Sans CJK SC"/>
              </a:defRPr>
            </a:pPr>
            <a:r>
              <a:t>需要经过什么？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21945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8500" b="1">
                <a:solidFill>
                  <a:srgbClr val="7CE0D4"/>
                </a:solidFill>
                <a:latin typeface="Noto Sans CJK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E0D4"/>
                </a:solidFill>
                <a:latin typeface="Noto Sans CJK SC"/>
              </a:defRPr>
            </a:pPr>
            <a:r>
              <a:t>03 / 声音的传播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18.5—22分钟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一条日常路径：声源 → 空气 → 耳朵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CE0D4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423160"/>
            <a:ext cx="3108960" cy="297180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97479"/>
            <a:ext cx="25603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声源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25603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振动产生声音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23360" y="3611880"/>
            <a:ext cx="548640" cy="365760"/>
          </a:xfrm>
          <a:prstGeom prst="rightArrow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2423160"/>
            <a:ext cx="3108960" cy="297180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697479"/>
            <a:ext cx="25603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空气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57600"/>
            <a:ext cx="25603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传播声音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3840" y="3611880"/>
            <a:ext cx="548640" cy="365760"/>
          </a:xfrm>
          <a:prstGeom prst="rightArrow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2423160"/>
            <a:ext cx="3108960" cy="297180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697479"/>
            <a:ext cx="25603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耳朵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57600"/>
            <a:ext cx="25603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鼓膜响应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4241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CE2E3"/>
                </a:solidFill>
                <a:latin typeface="Noto Sans CJK SC"/>
              </a:defRPr>
            </a:pPr>
            <a:r>
              <a:t>箭头表示传播关系，不表示整团空气从左边跑到右边。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E0D4"/>
                </a:solidFill>
                <a:latin typeface="Noto Sans CJK SC"/>
              </a:defRPr>
            </a:pPr>
            <a:r>
              <a:t>03 / 声音的传播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22—25分钟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声音传播，不等于一阵风吹过来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CE0D4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240280"/>
            <a:ext cx="539496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7CE0D4"/>
                </a:solidFill>
                <a:latin typeface="Noto Sans CJK SC"/>
              </a:defRPr>
            </a:pPr>
            <a:r>
              <a:t>传播的是变化，</a:t>
            </a:r>
          </a:p>
          <a:p>
            <a:pPr>
              <a:spcAft>
                <a:spcPts val="1000"/>
              </a:spcAft>
              <a:defRPr sz="3400" b="1">
                <a:solidFill>
                  <a:srgbClr val="7CE0D4"/>
                </a:solidFill>
                <a:latin typeface="Noto Sans CJK SC"/>
              </a:defRPr>
            </a:pPr>
            <a:r>
              <a:t>不是整团空气</a:t>
            </a:r>
          </a:p>
          <a:p>
            <a:pPr>
              <a:spcAft>
                <a:spcPts val="1000"/>
              </a:spcAft>
              <a:defRPr sz="3400" b="1">
                <a:solidFill>
                  <a:srgbClr val="7CE0D4"/>
                </a:solidFill>
                <a:latin typeface="Noto Sans CJK SC"/>
              </a:defRPr>
            </a:pPr>
            <a:r>
              <a:t>一路飞向耳朵。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2926080"/>
            <a:ext cx="292608" cy="292608"/>
          </a:xfrm>
          <a:prstGeom prst="ellipse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-Right Arrow 16"/>
          <p:cNvSpPr/>
          <p:nvPr/>
        </p:nvSpPr>
        <p:spPr>
          <a:xfrm>
            <a:off x="6583680" y="3749039"/>
            <a:ext cx="475488" cy="201168"/>
          </a:xfrm>
          <a:prstGeom prst="leftRightArrow">
            <a:avLst/>
          </a:prstGeom>
          <a:solidFill>
            <a:srgbClr val="FFB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926080"/>
            <a:ext cx="292608" cy="292608"/>
          </a:xfrm>
          <a:prstGeom prst="ellipse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-Right Arrow 18"/>
          <p:cNvSpPr/>
          <p:nvPr/>
        </p:nvSpPr>
        <p:spPr>
          <a:xfrm>
            <a:off x="7205472" y="3749039"/>
            <a:ext cx="475488" cy="201168"/>
          </a:xfrm>
          <a:prstGeom prst="leftRightArrow">
            <a:avLst/>
          </a:prstGeom>
          <a:solidFill>
            <a:srgbClr val="FFB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18704" y="2926080"/>
            <a:ext cx="292608" cy="292608"/>
          </a:xfrm>
          <a:prstGeom prst="ellipse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-Right Arrow 20"/>
          <p:cNvSpPr/>
          <p:nvPr/>
        </p:nvSpPr>
        <p:spPr>
          <a:xfrm>
            <a:off x="7827264" y="3749039"/>
            <a:ext cx="475488" cy="201168"/>
          </a:xfrm>
          <a:prstGeom prst="leftRightArrow">
            <a:avLst/>
          </a:prstGeom>
          <a:solidFill>
            <a:srgbClr val="FFB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40496" y="2926080"/>
            <a:ext cx="292608" cy="292608"/>
          </a:xfrm>
          <a:prstGeom prst="ellipse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eft-Right Arrow 22"/>
          <p:cNvSpPr/>
          <p:nvPr/>
        </p:nvSpPr>
        <p:spPr>
          <a:xfrm>
            <a:off x="8449056" y="3749039"/>
            <a:ext cx="475488" cy="201168"/>
          </a:xfrm>
          <a:prstGeom prst="leftRightArrow">
            <a:avLst/>
          </a:prstGeom>
          <a:solidFill>
            <a:srgbClr val="FFB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62288" y="2926080"/>
            <a:ext cx="292608" cy="292608"/>
          </a:xfrm>
          <a:prstGeom prst="ellipse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ft-Right Arrow 24"/>
          <p:cNvSpPr/>
          <p:nvPr/>
        </p:nvSpPr>
        <p:spPr>
          <a:xfrm>
            <a:off x="9070848" y="3749039"/>
            <a:ext cx="475488" cy="201168"/>
          </a:xfrm>
          <a:prstGeom prst="leftRightArrow">
            <a:avLst/>
          </a:prstGeom>
          <a:solidFill>
            <a:srgbClr val="FFB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0" y="2926080"/>
            <a:ext cx="292608" cy="292608"/>
          </a:xfrm>
          <a:prstGeom prst="ellipse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-Right Arrow 26"/>
          <p:cNvSpPr/>
          <p:nvPr/>
        </p:nvSpPr>
        <p:spPr>
          <a:xfrm>
            <a:off x="9692640" y="3749039"/>
            <a:ext cx="475488" cy="201168"/>
          </a:xfrm>
          <a:prstGeom prst="leftRightArrow">
            <a:avLst/>
          </a:prstGeom>
          <a:solidFill>
            <a:srgbClr val="FFB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05872" y="2926080"/>
            <a:ext cx="292608" cy="292608"/>
          </a:xfrm>
          <a:prstGeom prst="ellipse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-Right Arrow 28"/>
          <p:cNvSpPr/>
          <p:nvPr/>
        </p:nvSpPr>
        <p:spPr>
          <a:xfrm>
            <a:off x="10314432" y="3749039"/>
            <a:ext cx="475488" cy="201168"/>
          </a:xfrm>
          <a:prstGeom prst="leftRightArrow">
            <a:avLst/>
          </a:prstGeom>
          <a:solidFill>
            <a:srgbClr val="FFB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709160"/>
            <a:ext cx="46634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小幅往返振动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（简化示意）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E0D4"/>
                </a:solidFill>
                <a:latin typeface="Noto Sans CJK SC"/>
              </a:defRPr>
            </a:pPr>
            <a:r>
              <a:t>03 / 声音的传播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25—28分钟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声音只能在空气里传播吗？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CE0D4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377440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265176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气体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2651760" cy="16459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空气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377440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651760"/>
            <a:ext cx="265176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液体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611880"/>
            <a:ext cx="2651760" cy="16459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377440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651760"/>
            <a:ext cx="265176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固体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611880"/>
            <a:ext cx="2651760" cy="16459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桌板、金属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7CE0D4"/>
                </a:solidFill>
                <a:latin typeface="Noto Sans CJK SC"/>
              </a:defRPr>
            </a:pPr>
            <a:r>
              <a:t>这些能传递声音的物质，叫作“介质”。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E0D4"/>
                </a:solidFill>
                <a:latin typeface="Noto Sans CJK SC"/>
              </a:defRPr>
            </a:pPr>
            <a:r>
              <a:t>03 / 声音的传播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28—30分钟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假如没有介质：太空中能直接听到吗？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7C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47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CE0D4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331720"/>
            <a:ext cx="4846320" cy="320040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606039"/>
            <a:ext cx="42976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理想真空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66160"/>
            <a:ext cx="429768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没有传播声音的介质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声音不能直接传过去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331720"/>
            <a:ext cx="4846320" cy="3200400"/>
          </a:xfrm>
          <a:prstGeom prst="roundRect">
            <a:avLst>
              <a:gd name="adj" fmla="val 8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606039"/>
            <a:ext cx="42976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宇航员怎样交流？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566160"/>
            <a:ext cx="429768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依靠无线电设备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不是直接向真空喊话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04 / 认识声音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30—30.5分钟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第三站：听懂声音的不同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813816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7049A7"/>
                </a:solidFill>
                <a:latin typeface="Noto Sans CJK SC"/>
              </a:defRPr>
            </a:pPr>
            <a:r>
              <a:t>“更响”和“更高”，</a:t>
            </a:r>
          </a:p>
          <a:p>
            <a:pPr>
              <a:spcAft>
                <a:spcPts val="1000"/>
              </a:spcAft>
              <a:defRPr sz="3900" b="1">
                <a:solidFill>
                  <a:srgbClr val="7049A7"/>
                </a:solidFill>
                <a:latin typeface="Noto Sans CJK SC"/>
              </a:defRPr>
            </a:pPr>
            <a:r>
              <a:t>是一回事吗？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21945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8500" b="1">
                <a:solidFill>
                  <a:srgbClr val="7049A7"/>
                </a:solidFill>
                <a:latin typeface="Noto Sans CJK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04 / 认识声音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30.5—33分钟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响度：听起来更响，还是更轻？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468880"/>
            <a:ext cx="4572000" cy="288036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743200"/>
            <a:ext cx="402336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轻一些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03320"/>
            <a:ext cx="402336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468880"/>
            <a:ext cx="4572000" cy="2880360"/>
          </a:xfrm>
          <a:prstGeom prst="roundRect">
            <a:avLst>
              <a:gd name="adj" fmla="val 8000"/>
            </a:avLst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743200"/>
            <a:ext cx="402336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响一些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402336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仍说同一句话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不用大喊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104241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73944"/>
                </a:solidFill>
                <a:latin typeface="Noto Sans CJK SC"/>
              </a:defRPr>
            </a:pPr>
            <a:r>
              <a:t>响度说的是“响不响”，也会受到距离等条件影响。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04 / 认识声音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33—35.5分钟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音调：听起来更高，还是更低？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17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2834640"/>
            <a:ext cx="22860" cy="3058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" y="2865225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" y="2895476"/>
            <a:ext cx="22859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7259" y="2925060"/>
            <a:ext cx="22861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0120" y="2953654"/>
            <a:ext cx="22860" cy="2729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2980" y="2980944"/>
            <a:ext cx="22860" cy="256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40" y="3006630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8700" y="3030432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1560" y="3052090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74420" y="307136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" y="3088045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" y="3101950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43000" y="31129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65860" y="3120853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88720" y="3125645"/>
            <a:ext cx="22860" cy="1603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211580" y="3125645"/>
            <a:ext cx="22860" cy="1603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234440" y="3120853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257300" y="31129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280160" y="3101950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303020" y="3088045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25880" y="307136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348740" y="3052090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71600" y="3030432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394460" y="3006630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17320" y="2980944"/>
            <a:ext cx="22860" cy="256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40180" y="2953654"/>
            <a:ext cx="22860" cy="2729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63040" y="2925060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85900" y="2895476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508760" y="2865225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531620" y="2834640"/>
            <a:ext cx="22860" cy="3058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554480" y="2804054"/>
            <a:ext cx="22860" cy="305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577340" y="2773803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600200" y="2744219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23060" y="2715625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645920" y="2688336"/>
            <a:ext cx="22860" cy="2728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668780" y="2662649"/>
            <a:ext cx="22860" cy="2568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691640" y="2638847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714500" y="2617189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737360" y="2597915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760220" y="258123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783080" y="2567329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805940" y="2556353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828800" y="25484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51660" y="2543634"/>
            <a:ext cx="22859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874519" y="2542032"/>
            <a:ext cx="22861" cy="16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97380" y="2542032"/>
            <a:ext cx="22860" cy="16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20240" y="2543634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943100" y="25484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965960" y="2556353"/>
            <a:ext cx="22859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988819" y="2567329"/>
            <a:ext cx="22861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0" y="258123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34540" y="2597915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57400" y="2617189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80260" y="2638847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103120" y="2662649"/>
            <a:ext cx="22860" cy="2568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125980" y="2688336"/>
            <a:ext cx="22860" cy="2728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148840" y="2715625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171700" y="2744219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194560" y="2773803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217420" y="2804054"/>
            <a:ext cx="22860" cy="305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240280" y="2834640"/>
            <a:ext cx="22860" cy="3058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263140" y="2865225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286000" y="2895476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308860" y="2925060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331720" y="2953654"/>
            <a:ext cx="22860" cy="2729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354580" y="2980944"/>
            <a:ext cx="22860" cy="256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377440" y="3006630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400300" y="3030432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423160" y="3052090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446020" y="307136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468880" y="3088045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491740" y="3101950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514600" y="31129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537460" y="3120853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560320" y="3125645"/>
            <a:ext cx="22860" cy="1603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583180" y="3125645"/>
            <a:ext cx="22860" cy="1603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606040" y="3120853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628900" y="31129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651760" y="3101950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674620" y="3088045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697480" y="3071364"/>
            <a:ext cx="22859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720339" y="3052090"/>
            <a:ext cx="22861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43200" y="3030432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766060" y="3006630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788920" y="2980944"/>
            <a:ext cx="22860" cy="256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811780" y="2953654"/>
            <a:ext cx="22859" cy="2729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834639" y="2925060"/>
            <a:ext cx="22861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857500" y="2895476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880360" y="2865225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903220" y="2834640"/>
            <a:ext cx="22860" cy="3058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926080" y="2804054"/>
            <a:ext cx="22859" cy="305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948939" y="2773803"/>
            <a:ext cx="22861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971800" y="2744219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994660" y="2715625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017520" y="2688336"/>
            <a:ext cx="22860" cy="2728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040380" y="2662649"/>
            <a:ext cx="22860" cy="2568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063240" y="2638847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086100" y="2617189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108960" y="2597915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131820" y="258123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154680" y="2567329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177540" y="2556353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200400" y="25484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223260" y="2543634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246120" y="2542032"/>
            <a:ext cx="22860" cy="16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268980" y="2542032"/>
            <a:ext cx="22860" cy="16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291840" y="2543634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314700" y="25484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337560" y="2556353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360420" y="2567329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383280" y="258123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406140" y="2597915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429000" y="2617189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451860" y="2638847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474720" y="2662649"/>
            <a:ext cx="22860" cy="2568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497580" y="2688336"/>
            <a:ext cx="22860" cy="2728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520440" y="2715625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543300" y="2744219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566160" y="2773803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589020" y="2804054"/>
            <a:ext cx="22860" cy="305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3611880" y="2834640"/>
            <a:ext cx="22860" cy="3058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634740" y="2865225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657600" y="2895476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3680460" y="2925060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703320" y="2953654"/>
            <a:ext cx="22860" cy="2729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726180" y="2980944"/>
            <a:ext cx="22860" cy="256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749040" y="3006630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771900" y="3030432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794760" y="3052090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817620" y="307136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840480" y="3088045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863340" y="3101950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886200" y="31129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909060" y="3120853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931920" y="3125645"/>
            <a:ext cx="22860" cy="1603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3954780" y="3125645"/>
            <a:ext cx="22860" cy="1603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3977640" y="3120853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000500" y="31129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023360" y="3101950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046220" y="3088045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069080" y="307136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091940" y="3052090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114800" y="3030432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137660" y="3006630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160520" y="2980944"/>
            <a:ext cx="22860" cy="256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183380" y="2953654"/>
            <a:ext cx="22860" cy="2729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206240" y="2925060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229100" y="2895476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251960" y="2865225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274820" y="2834640"/>
            <a:ext cx="22860" cy="3058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297680" y="2804054"/>
            <a:ext cx="22860" cy="3058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320540" y="2773803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343400" y="2744219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366260" y="2715625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389120" y="2688336"/>
            <a:ext cx="22860" cy="2728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411980" y="2662649"/>
            <a:ext cx="22860" cy="2568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434840" y="2638847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457700" y="2617189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4480560" y="2597915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503420" y="258123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526280" y="2567329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549140" y="2556353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572000" y="25484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594860" y="2543634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617720" y="2542032"/>
            <a:ext cx="22860" cy="16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640580" y="2542032"/>
            <a:ext cx="22860" cy="16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4663440" y="2543634"/>
            <a:ext cx="22860" cy="479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4686300" y="2548426"/>
            <a:ext cx="22860" cy="792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4709160" y="2556353"/>
            <a:ext cx="22860" cy="10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732020" y="2567329"/>
            <a:ext cx="22860" cy="1390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4754880" y="2581234"/>
            <a:ext cx="22860" cy="166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4777740" y="2597915"/>
            <a:ext cx="22860" cy="1927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4800600" y="2617189"/>
            <a:ext cx="22860" cy="2165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4823460" y="2638847"/>
            <a:ext cx="22860" cy="23802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4846320" y="2662649"/>
            <a:ext cx="22860" cy="2568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4869180" y="2688336"/>
            <a:ext cx="22860" cy="2728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892040" y="2715625"/>
            <a:ext cx="22860" cy="2859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4914900" y="2744219"/>
            <a:ext cx="22860" cy="29584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4937760" y="2773803"/>
            <a:ext cx="22860" cy="3025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960620" y="2804054"/>
            <a:ext cx="22860" cy="3058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6126480" y="2468880"/>
            <a:ext cx="52120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7049A7"/>
                </a:solidFill>
                <a:latin typeface="Noto Sans CJK SC"/>
              </a:defRPr>
            </a:pPr>
            <a:r>
              <a:t>振动较慢 → 音调较低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86868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9154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14400" y="4416694"/>
            <a:ext cx="22859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37259" y="4469670"/>
            <a:ext cx="22861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96012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98298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00584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28700" y="4588685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05156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07442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09728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12014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1430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16586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18872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21158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23444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2573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28016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30302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32588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34874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371600" y="4006674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39446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41732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44018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46304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4859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50876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53162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55448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57734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6002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62306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64592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66878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69164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1714500" y="4588685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173736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76022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78308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80594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8288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851660" y="4358516"/>
            <a:ext cx="22859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874519" y="4297680"/>
            <a:ext cx="22861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89738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92024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9431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965960" y="4080229"/>
            <a:ext cx="22859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988819" y="4044274"/>
            <a:ext cx="22861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201168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203454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2057400" y="4006674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208026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210312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212598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214884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21717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219456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221742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224028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226314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2860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230886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233172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235458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237744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2400300" y="4588685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242316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244602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246888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249174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25146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53746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256032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58318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60604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6289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65176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267462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697480" y="4019393"/>
            <a:ext cx="22859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720339" y="4006674"/>
            <a:ext cx="22861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2743200" y="4006674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276606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278892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2811780" y="4044274"/>
            <a:ext cx="22859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2834639" y="4080229"/>
            <a:ext cx="22861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28575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288036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290322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2926080" y="4297680"/>
            <a:ext cx="22859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2948939" y="4358516"/>
            <a:ext cx="22861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29718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299466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301752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304038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306324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086100" y="4588685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310896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313182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315468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317754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32004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322326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324612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326898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329184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33147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333756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336042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338328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340614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3429000" y="4006674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345186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347472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349758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352044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35433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356616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358902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361188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363474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36576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368046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70332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372618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374904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3771900" y="4588685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379476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381762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384048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386334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38862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390906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393192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395478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397764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40005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402336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404622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406908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409194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114800" y="4006674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413766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416052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418338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420624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42291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425196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4274820" y="4236843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4297680" y="4297680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432054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3434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36626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38912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441198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43484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457700" y="4588685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4480560" y="4575966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4503420" y="4551085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4526280" y="4515130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4549140" y="4469670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4572000" y="4416694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4594860" y="4358516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4617720" y="4297679"/>
            <a:ext cx="22860" cy="60837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4640580" y="4236843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466344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46863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470916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473202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475488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477774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4800600" y="4006674"/>
            <a:ext cx="22860" cy="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823460" y="4006674"/>
            <a:ext cx="22860" cy="12719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4846320" y="4019393"/>
            <a:ext cx="22860" cy="24881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4869180" y="4044274"/>
            <a:ext cx="22860" cy="35955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4892040" y="4080229"/>
            <a:ext cx="22860" cy="45460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4914900" y="4125689"/>
            <a:ext cx="22860" cy="5297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4937760" y="4178665"/>
            <a:ext cx="22860" cy="58178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4960620" y="4236843"/>
            <a:ext cx="22860" cy="60836"/>
          </a:xfrm>
          <a:prstGeom prst="line">
            <a:avLst/>
          </a:prstGeom>
          <a:ln w="31750">
            <a:solidFill>
              <a:srgbClr val="704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6126480" y="3931920"/>
            <a:ext cx="52120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7049A7"/>
                </a:solidFill>
                <a:latin typeface="Noto Sans CJK SC"/>
              </a:defRPr>
            </a:pPr>
            <a:r>
              <a:t>振动较快 → 音调较高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914400" y="5605272"/>
            <a:ext cx="104241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3944"/>
                </a:solidFill>
                <a:latin typeface="Noto Sans CJK SC"/>
              </a:defRPr>
            </a:pPr>
            <a:r>
              <a:t>两条波形画的是同样长的一段时间，不按真实尺度。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04 / 认识声音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35.5—38.5分钟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视频②：先听，再分清“响”和“高”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15" name="Picture 14" descr="loudness-and-pitch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19"/>
            <a:ext cx="6766560" cy="3806189"/>
          </a:xfrm>
          <a:prstGeom prst="rect">
            <a:avLst/>
          </a:prstGeom>
        </p:spPr>
      </p:pic>
      <p:pic>
        <p:nvPicPr>
          <p:cNvPr id="16" name="loudness-and-pitch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74519"/>
            <a:ext cx="6766560" cy="38061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18120" y="2240280"/>
            <a:ext cx="37033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7049A7"/>
                </a:solidFill>
                <a:latin typeface="Noto Sans CJK SC"/>
              </a:defRPr>
            </a:pPr>
            <a:r>
              <a:t>带着问题观看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246120"/>
            <a:ext cx="3703320" cy="2148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哪段听起来更响？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哪段音调更高？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两种变化一样吗？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521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3944"/>
                </a:solidFill>
                <a:latin typeface="Noto Sans CJK SC"/>
              </a:defRPr>
            </a:pPr>
            <a:r>
              <a:t>原创示意短片 · 点击画面播放；若无法播放，可使用配套MP4或示意图讲解。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04 / 认识声音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38.5—40.5分钟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音色：为什么能认出是谁在说话？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1033272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7049A7"/>
                </a:solidFill>
                <a:latin typeface="Noto Sans CJK SC"/>
              </a:defRPr>
            </a:pPr>
            <a:r>
              <a:t>同样说“你好”，</a:t>
            </a:r>
          </a:p>
          <a:p>
            <a:pPr>
              <a:spcAft>
                <a:spcPts val="1000"/>
              </a:spcAft>
              <a:defRPr sz="3600" b="1">
                <a:solidFill>
                  <a:srgbClr val="7049A7"/>
                </a:solidFill>
                <a:latin typeface="Noto Sans CJK SC"/>
              </a:defRPr>
            </a:pPr>
            <a:r>
              <a:t>你为什么能认出熟悉的人？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10241280" cy="1325880"/>
          </a:xfrm>
          <a:prstGeom prst="roundRect">
            <a:avLst>
              <a:gd name="adj" fmla="val 8000"/>
            </a:avLst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72000"/>
            <a:ext cx="969264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音色：声音的特色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32120"/>
            <a:ext cx="9692640" cy="-45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04 / 认识声音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40.5—42分钟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给描述找家：响度、音调，还是音色？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7049A7"/>
                </a:solidFill>
                <a:latin typeface="Noto Sans CJK SC"/>
              </a:defRPr>
            </a:pPr>
            <a:r>
              <a:t>“比刚才更响了”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属于哪一种描述？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29000"/>
            <a:ext cx="594360" cy="59436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29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7049A7"/>
                </a:solidFill>
                <a:latin typeface="Noto Sans CJK SC"/>
              </a:defRPr>
            </a:pPr>
            <a:r>
              <a:t>“这个音更高了”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65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属于哪一种描述？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7049A7"/>
                </a:solidFill>
                <a:latin typeface="Noto Sans CJK SC"/>
              </a:defRPr>
            </a:pPr>
            <a:r>
              <a:t>“我认出了妈妈的声音”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08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属于哪一种描述？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05 / 认识扩音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42—42.5分钟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第四站：认识扩音设备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813816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D85C29"/>
                </a:solidFill>
                <a:latin typeface="Noto Sans CJK SC"/>
              </a:defRPr>
            </a:pPr>
            <a:r>
              <a:t>工具怎样帮助我们</a:t>
            </a:r>
          </a:p>
          <a:p>
            <a:pPr>
              <a:spcAft>
                <a:spcPts val="1000"/>
              </a:spcAft>
              <a:defRPr sz="3900" b="1">
                <a:solidFill>
                  <a:srgbClr val="D85C29"/>
                </a:solidFill>
                <a:latin typeface="Noto Sans CJK SC"/>
              </a:defRPr>
            </a:pPr>
            <a:r>
              <a:t>让别人听到？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21945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8500" b="1">
                <a:solidFill>
                  <a:srgbClr val="D85C29"/>
                </a:solidFill>
                <a:latin typeface="Noto Sans CJK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05 / 认识扩音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42.5—45分钟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想让别人听清，有不止一种办法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距离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适当靠近听者。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29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29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65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减少背景噪声。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方向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08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朝向听众，选择适合的设备。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05 / 认识扩音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45—47分钟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喇叭口：没有电源，也能改变听感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788920"/>
            <a:ext cx="1005840" cy="137160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pezoid 15"/>
          <p:cNvSpPr/>
          <p:nvPr/>
        </p:nvSpPr>
        <p:spPr>
          <a:xfrm rot="16200000">
            <a:off x="2148840" y="2148840"/>
            <a:ext cx="3657600" cy="2651760"/>
          </a:xfrm>
          <a:prstGeom prst="trapezoid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51206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非电子喇叭口（示意）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48463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没有电池。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可能改变传出方向。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某些位置更容易听见。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不会凭空增加能量。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05 / 认识扩音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47—50分钟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电子扩音器：电能参与了声音输出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3108960" cy="297180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514600"/>
            <a:ext cx="25603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麦克风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25603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接收声音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转成电信号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23360" y="3337560"/>
            <a:ext cx="548640" cy="365760"/>
          </a:xfrm>
          <a:prstGeom prst="rightArrow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2240280"/>
            <a:ext cx="3108960" cy="2971800"/>
          </a:xfrm>
          <a:prstGeom prst="roundRect">
            <a:avLst>
              <a:gd name="adj" fmla="val 8000"/>
            </a:avLst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514600"/>
            <a:ext cx="25603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电路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474720"/>
            <a:ext cx="25603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使用电能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放大信号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3840" y="3337560"/>
            <a:ext cx="548640" cy="365760"/>
          </a:xfrm>
          <a:prstGeom prst="rightArrow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2240280"/>
            <a:ext cx="3108960" cy="297180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514600"/>
            <a:ext cx="25603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扬声器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74720"/>
            <a:ext cx="25603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振动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发出声音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声音 → 电信号 → 声音；电源提供能量。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05 / 认识扩音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50—52分钟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今天的套件，更像哪一种装置？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25</a:t>
            </a:r>
          </a:p>
        </p:txBody>
      </p:sp>
      <p:pic>
        <p:nvPicPr>
          <p:cNvPr id="15" name="Picture 14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50940"/>
            <a:ext cx="6126479" cy="40533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06640" y="2468880"/>
            <a:ext cx="3749039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它没有电源。</a:t>
            </a:r>
          </a:p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它不是电子扩音器。</a:t>
            </a:r>
          </a:p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它会怎样改变声音？</a:t>
            </a:r>
          </a:p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需要实际比较。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06 / 知识迁移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52—55分钟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知识过关：先判断，再说理由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26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27685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19456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87C86"/>
                </a:solidFill>
                <a:latin typeface="Noto Sans CJK SC"/>
              </a:defRPr>
            </a:pPr>
            <a:r>
              <a:t>声音无需振动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3113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你同意吗？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46557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8328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C86"/>
                </a:solidFill>
                <a:latin typeface="Noto Sans CJK SC"/>
              </a:defRPr>
            </a:pPr>
            <a:r>
              <a:t>音调越高，就一定越响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1985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你同意吗？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87C86"/>
                </a:solidFill>
                <a:latin typeface="Noto Sans CJK SC"/>
              </a:defRPr>
            </a:pPr>
            <a:r>
              <a:t>纸杯套件就是电子扩音器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08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你同意吗？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06 / 知识迁移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55—57分钟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把知识用起来：预测我们的装置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27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423160"/>
            <a:ext cx="2423160" cy="24231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246120"/>
            <a:ext cx="2103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更响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2423160"/>
            <a:ext cx="2423160" cy="24231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3246120"/>
            <a:ext cx="2103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更轻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423160"/>
            <a:ext cx="2423160" cy="24231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3246120"/>
            <a:ext cx="2103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音色变化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0" y="2423160"/>
            <a:ext cx="2423160" cy="242316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6" y="3246120"/>
            <a:ext cx="2103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没有变化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5156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73944"/>
                </a:solidFill>
                <a:latin typeface="Noto Sans CJK SC"/>
              </a:defRPr>
            </a:pPr>
            <a:r>
              <a:t>我的预测是________，依据是________。也可以说“不确定”。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06 / 知识迁移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57—60分钟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先设计比较，再开始制作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28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331720"/>
            <a:ext cx="4389120" cy="2423160"/>
          </a:xfrm>
          <a:prstGeom prst="roundRect">
            <a:avLst>
              <a:gd name="adj" fmla="val 8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606039"/>
            <a:ext cx="38404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A：直接说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66160"/>
            <a:ext cx="384048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不用装置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331720"/>
            <a:ext cx="4389120" cy="242316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606039"/>
            <a:ext cx="384048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B：用装置说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66160"/>
            <a:ext cx="384048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对大杯口说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10515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73944"/>
                </a:solidFill>
                <a:latin typeface="Noto Sans CJK SC"/>
              </a:defRPr>
            </a:pPr>
            <a:r>
              <a:t>同一人 · 同一句话 · 固定位置 · 正常音量 · 安静环境</a:t>
            </a:r>
          </a:p>
          <a:p>
            <a:pPr>
              <a:spcAft>
                <a:spcPts val="1000"/>
              </a:spcAft>
              <a:defRPr sz="2400" b="0">
                <a:solidFill>
                  <a:srgbClr val="173944"/>
                </a:solidFill>
                <a:latin typeface="Noto Sans CJK SC"/>
              </a:defRPr>
            </a:pPr>
            <a:r>
              <a:t>先 A→B，再 B→A；听者不贴耳。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07 / 工程制作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60—62分钟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动手时间：材料检查与分工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29</a:t>
            </a:r>
          </a:p>
        </p:txBody>
      </p:sp>
      <p:pic>
        <p:nvPicPr>
          <p:cNvPr id="15" name="Picture 14" descr="sourc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90" y="1920240"/>
            <a:ext cx="6094978" cy="402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2148840"/>
            <a:ext cx="329184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① 透明筒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② 弹簧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③ 棉线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④ 小纸杯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⑤ 大纸杯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074920"/>
            <a:ext cx="32004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D85C29"/>
                </a:solidFill>
                <a:latin typeface="Noto Sans CJK SC"/>
              </a:defRPr>
            </a:pPr>
            <a:r>
              <a:t>轮流操作</a:t>
            </a:r>
          </a:p>
          <a:p>
            <a:pPr>
              <a:spcAft>
                <a:spcPts val="1000"/>
              </a:spcAft>
              <a:defRPr sz="2400" b="1">
                <a:solidFill>
                  <a:srgbClr val="D85C29"/>
                </a:solidFill>
                <a:latin typeface="Noto Sans CJK SC"/>
              </a:defRPr>
            </a:pPr>
            <a:r>
              <a:t>轮流检查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07 / 工程制作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62—64分钟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安全约定：工具交老师，卡住先停手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工具交老师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打孔、剪线由老师完成。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29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29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保护自己与同伴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65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不入口、不缠线、不猛拉。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D85C29"/>
                </a:solidFill>
                <a:latin typeface="Noto Sans CJK SC"/>
              </a:defRPr>
            </a:pPr>
            <a:r>
              <a:t>卡住先停手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08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举手求助，不硬推，不贴耳试音。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07 / 工程制作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64—69分钟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制作第1步：大杯固定弹簧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31</a:t>
            </a:r>
          </a:p>
        </p:txBody>
      </p:sp>
      <p:pic>
        <p:nvPicPr>
          <p:cNvPr id="15" name="Picture 14" descr="sourc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73" y="1892807"/>
            <a:ext cx="6390973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18120" y="2011680"/>
            <a:ext cx="32004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D85C29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74720"/>
            <a:ext cx="365760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找到老师打好的孔。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轻轻旋转弹簧，让它卡住。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不要硬推。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5669280"/>
            <a:ext cx="621792" cy="100584"/>
          </a:xfrm>
          <a:prstGeom prst="rect">
            <a:avLst/>
          </a:prstGeom>
          <a:solidFill>
            <a:srgbClr val="E7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5669280"/>
            <a:ext cx="621792" cy="100584"/>
          </a:xfrm>
          <a:prstGeom prst="rect">
            <a:avLst/>
          </a:prstGeom>
          <a:solidFill>
            <a:srgbClr val="E7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87000" y="5669280"/>
            <a:ext cx="621792" cy="100584"/>
          </a:xfrm>
          <a:prstGeom prst="rect">
            <a:avLst/>
          </a:prstGeom>
          <a:solidFill>
            <a:srgbClr val="E7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07 / 工程制作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69—73分钟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制作第2步：系好棉线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32</a:t>
            </a:r>
          </a:p>
        </p:txBody>
      </p:sp>
      <p:pic>
        <p:nvPicPr>
          <p:cNvPr id="15" name="Picture 14" descr="sourc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13" y="1892807"/>
            <a:ext cx="6378693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18120" y="2011680"/>
            <a:ext cx="32004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D85C29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74720"/>
            <a:ext cx="365760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把棉线系在弹簧另一端。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轻轻检查线结。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不拉长弹簧。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5669280"/>
            <a:ext cx="621792" cy="100584"/>
          </a:xfrm>
          <a:prstGeom prst="rect">
            <a:avLst/>
          </a:prstGeom>
          <a:solidFill>
            <a:srgbClr val="E7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87000" y="5669280"/>
            <a:ext cx="621792" cy="100584"/>
          </a:xfrm>
          <a:prstGeom prst="rect">
            <a:avLst/>
          </a:prstGeom>
          <a:solidFill>
            <a:srgbClr val="E7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07 / 工程制作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73—78分钟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制作第3步：套筒、穿线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33</a:t>
            </a:r>
          </a:p>
        </p:txBody>
      </p:sp>
      <p:pic>
        <p:nvPicPr>
          <p:cNvPr id="15" name="Picture 14" descr="sourc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892807"/>
            <a:ext cx="6367896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18120" y="2011680"/>
            <a:ext cx="32004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D85C29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74720"/>
            <a:ext cx="365760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透明筒套在大杯底。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棉线穿过小杯底孔。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卡住时，举手求助。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87000" y="5669280"/>
            <a:ext cx="621792" cy="100584"/>
          </a:xfrm>
          <a:prstGeom prst="rect">
            <a:avLst/>
          </a:prstGeom>
          <a:solidFill>
            <a:srgbClr val="E7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85C29"/>
                </a:solidFill>
                <a:latin typeface="Noto Sans CJK SC"/>
              </a:defRPr>
            </a:pPr>
            <a:r>
              <a:t>07 / 工程制作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78—82分钟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制作第4步：小杯固定弹簧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85C29"/>
                </a:solidFill>
                <a:latin typeface="Noto Sans CJK SC"/>
              </a:defRPr>
            </a:pPr>
            <a:r>
              <a:t>34</a:t>
            </a:r>
          </a:p>
        </p:txBody>
      </p:sp>
      <p:pic>
        <p:nvPicPr>
          <p:cNvPr id="15" name="Picture 14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14" y="1892807"/>
            <a:ext cx="6357491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18120" y="2011680"/>
            <a:ext cx="32004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D85C29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74720"/>
            <a:ext cx="365760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用棉线轻轻引导弹簧。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旋转，让弹簧卡住小杯底。</a:t>
            </a:r>
          </a:p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请老师检查并剪多余线。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87000" y="5669280"/>
            <a:ext cx="621792" cy="100584"/>
          </a:xfrm>
          <a:prstGeom prst="rect">
            <a:avLst/>
          </a:prstGeom>
          <a:solidFill>
            <a:srgbClr val="D85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08 / 验证与回顾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82—83分钟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检查通过，才能试音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35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两端稳固，没有松脱。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2900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29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外观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65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杯子完整，没有危险尖端。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教师确认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08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检查通过；听者不贴耳。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08 / 验证与回顾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83—85.5分钟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两轮比较：用装置后，发生了什么？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331720"/>
            <a:ext cx="4709160" cy="2743200"/>
          </a:xfrm>
          <a:prstGeom prst="roundRect">
            <a:avLst>
              <a:gd name="adj" fmla="val 8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06039"/>
            <a:ext cx="41605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第一轮：A →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66160"/>
            <a:ext cx="416052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先直接说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再用装置说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331720"/>
            <a:ext cx="4709160" cy="2743200"/>
          </a:xfrm>
          <a:prstGeom prst="roundRect">
            <a:avLst>
              <a:gd name="adj" fmla="val 8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606039"/>
            <a:ext cx="41605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第二轮：B →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566160"/>
            <a:ext cx="416052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先用装置说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再直接说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4241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73944"/>
                </a:solidFill>
                <a:latin typeface="Noto Sans CJK SC"/>
              </a:defRPr>
            </a:pPr>
            <a:r>
              <a:t>都说“你好，科学！”  固定位置，不用更大力喊。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08 / 验证与回顾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85.5—87分钟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分开记录：响度、音色与清晰度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37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31720"/>
            <a:ext cx="106984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468879"/>
            <a:ext cx="2377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335AC0"/>
                </a:solidFill>
                <a:latin typeface="Noto Sans CJK SC"/>
              </a:defRPr>
            </a:pPr>
            <a:r>
              <a:t>响度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468879"/>
            <a:ext cx="74066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3944"/>
                </a:solidFill>
                <a:latin typeface="Noto Sans CJK SC"/>
              </a:defRPr>
            </a:pPr>
            <a:r>
              <a:t>更响 / 差不多 / 更轻 / 不确定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10698480" cy="841248"/>
          </a:xfrm>
          <a:prstGeom prst="rect">
            <a:avLst/>
          </a:prstGeom>
          <a:solidFill>
            <a:srgbClr val="DCE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10712"/>
            <a:ext cx="2377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335AC0"/>
                </a:solidFill>
                <a:latin typeface="Noto Sans CJK SC"/>
              </a:defRPr>
            </a:pPr>
            <a:r>
              <a:t>音色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410712"/>
            <a:ext cx="74066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3944"/>
                </a:solidFill>
                <a:latin typeface="Noto Sans CJK SC"/>
              </a:defRPr>
            </a:pPr>
            <a:r>
              <a:t>声音有什么不同？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215383"/>
            <a:ext cx="106984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52544"/>
            <a:ext cx="2377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335AC0"/>
                </a:solidFill>
                <a:latin typeface="Noto Sans CJK SC"/>
              </a:defRPr>
            </a:pPr>
            <a:r>
              <a:t>清晰度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352544"/>
            <a:ext cx="74066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3944"/>
                </a:solidFill>
                <a:latin typeface="Noto Sans CJK SC"/>
              </a:defRPr>
            </a:pPr>
            <a:r>
              <a:t>更清楚 / 差不多 / 更模糊 / 不确定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32704"/>
            <a:ext cx="104241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335AC0"/>
                </a:solidFill>
                <a:latin typeface="Noto Sans CJK SC"/>
              </a:defRPr>
            </a:pPr>
            <a:r>
              <a:t>没有变化、不确定、两轮不同，都如实记录。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08 / 验证与回顾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87—88.5分钟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最后，用知识解释你的发现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38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我学到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声音由振动产生，也需要介质传播。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2900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29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我发现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65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响度、音调、音色是不同描述。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我的证据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08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比较后，我听到……还不能确定……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08 / 验证与回顾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1432" y="329184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88.5—90分钟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9692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173944"/>
                </a:solidFill>
                <a:latin typeface="Noto Sans CJK SC"/>
              </a:defRPr>
            </a:pPr>
            <a:r>
              <a:t>整理实验台，把好问题带回家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6400800"/>
            <a:ext cx="201168" cy="68580"/>
          </a:xfrm>
          <a:prstGeom prst="rect">
            <a:avLst/>
          </a:prstGeom>
          <a:solidFill>
            <a:srgbClr val="D6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6400800"/>
            <a:ext cx="201168" cy="68580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6364224"/>
            <a:ext cx="72237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/ 90分钟科学社团课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45936"/>
            <a:ext cx="6400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39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36829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收好材料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零件不遗落，坏了交老师。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46557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38328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整理桌面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1985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清理垃圾，整理后洗手。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480560"/>
            <a:ext cx="594360" cy="59436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62856"/>
            <a:ext cx="3657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480560"/>
            <a:ext cx="301752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分享发现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517136"/>
            <a:ext cx="64922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讲知识，也讲你的观察证据。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