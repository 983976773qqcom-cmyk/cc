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217920" cy="868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用户上传版本为依据进行绘图美化，保留全部概念与箭头关系。统一节点、间距、宋体字体与细线箭头；主概念少量加粗、背景浅灰；回路标注保留重新选择；积极反馈→再次选择→再次参与→积极反馈的循环及中央持续参与保留，反馈不足沿右侧虚线返回游戏接触与选择。图中不放图题，建议在论文正文用图注“图1 幼儿虚实游戏偏好的形成与分化机制”。黑白灰可用于印刷。概念匹配中的×非统计交互项；箭头表示质性归纳的过程联系。美化依据学术流程图通用制图原则，不声明符合某一本期刊的具体模板；目标期刊字号与栏宽要求需以投稿规范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74320"/>
            <a:ext cx="5029200" cy="685800"/>
          </a:xfrm>
          <a:prstGeom prst="roundRect">
            <a:avLst>
              <a:gd name="adj" fmla="val 5500"/>
            </a:avLst>
          </a:prstGeom>
          <a:solidFill>
            <a:srgbClr val="F4F4F4"/>
          </a:solidFill>
          <a:ln w="1206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718304" cy="23774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1818"/>
                </a:solidFill>
                <a:latin typeface="Noto Serif CJK SC"/>
                <a:ea typeface="Noto Serif CJK SC"/>
                <a:cs typeface="Noto Serif CJK SC"/>
              </a:rPr>
              <a:t>现实选择条件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4754880" cy="1920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81818"/>
                </a:solidFill>
                <a:latin typeface="Noto Serif CJK SC"/>
                <a:ea typeface="Noto Serif CJK SC"/>
                <a:cs typeface="Noto Serif CJK SC"/>
              </a:rPr>
              <a:t>他人参与与引介｜成人支持与调节｜游戏资源可获得性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17520" y="960120"/>
            <a:ext cx="0" cy="283464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856231" y="1243584"/>
            <a:ext cx="2322576" cy="4023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06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83663" y="1261872"/>
            <a:ext cx="2267712" cy="365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81818"/>
                </a:solidFill>
                <a:latin typeface="Noto Serif CJK SC"/>
                <a:ea typeface="Noto Serif CJK SC"/>
                <a:cs typeface="Noto Serif CJK SC"/>
              </a:rPr>
              <a:t>游戏接触与选择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645920" y="1645920"/>
            <a:ext cx="768096" cy="274320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21024" y="1645920"/>
            <a:ext cx="768096" cy="274320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1920240"/>
            <a:ext cx="2286000" cy="420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06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938528"/>
            <a:ext cx="2231136" cy="3840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81818"/>
                </a:solidFill>
                <a:latin typeface="Noto Serif CJK SC"/>
                <a:ea typeface="Noto Serif CJK SC"/>
                <a:cs typeface="Noto Serif CJK SC"/>
              </a:rPr>
              <a:t>线上游戏参与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920240"/>
            <a:ext cx="2286000" cy="420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06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1" y="1938528"/>
            <a:ext cx="2231136" cy="3840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81818"/>
                </a:solidFill>
                <a:latin typeface="Noto Serif CJK SC"/>
                <a:ea typeface="Noto Serif CJK SC"/>
                <a:cs typeface="Noto Serif CJK SC"/>
              </a:rPr>
              <a:t>线下游戏参与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45920" y="2340864"/>
            <a:ext cx="0" cy="137160"/>
          </a:xfrm>
          <a:prstGeom prst="line">
            <a:avLst/>
          </a:prstGeom>
          <a:ln w="10795">
            <a:solidFill>
              <a:srgbClr val="3030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389120" y="2340864"/>
            <a:ext cx="0" cy="137160"/>
          </a:xfrm>
          <a:prstGeom prst="line">
            <a:avLst/>
          </a:prstGeom>
          <a:ln w="10795">
            <a:solidFill>
              <a:srgbClr val="3030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45920" y="2478024"/>
            <a:ext cx="2743200" cy="0"/>
          </a:xfrm>
          <a:prstGeom prst="line">
            <a:avLst/>
          </a:prstGeom>
          <a:ln w="10795">
            <a:solidFill>
              <a:srgbClr val="3030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17520" y="2478024"/>
            <a:ext cx="0" cy="146304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856231" y="2624328"/>
            <a:ext cx="2322576" cy="4023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06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83663" y="2642616"/>
            <a:ext cx="2267712" cy="365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81818"/>
                </a:solidFill>
                <a:latin typeface="Noto Serif CJK SC"/>
                <a:ea typeface="Noto Serif CJK SC"/>
                <a:cs typeface="Noto Serif CJK SC"/>
              </a:rPr>
              <a:t>游戏体验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17520" y="3026664"/>
            <a:ext cx="0" cy="265176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170432" y="3291840"/>
            <a:ext cx="3694176" cy="886968"/>
          </a:xfrm>
          <a:prstGeom prst="roundRect">
            <a:avLst>
              <a:gd name="adj" fmla="val 5500"/>
            </a:avLst>
          </a:prstGeom>
          <a:solidFill>
            <a:srgbClr val="F4F4F4"/>
          </a:solidFill>
          <a:ln w="1206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07592" y="3364992"/>
            <a:ext cx="3419856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81818"/>
                </a:solidFill>
                <a:latin typeface="Noto Serif CJK SC"/>
                <a:ea typeface="Noto Serif CJK SC"/>
                <a:cs typeface="Noto Serif CJK SC"/>
              </a:rPr>
              <a:t>体验匹配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62456" y="3657600"/>
            <a:ext cx="3310128" cy="0"/>
          </a:xfrm>
          <a:prstGeom prst="line">
            <a:avLst/>
          </a:prstGeom>
          <a:ln w="6350">
            <a:solidFill>
              <a:srgbClr val="3030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07592" y="3730752"/>
            <a:ext cx="3419856" cy="1920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81818"/>
                </a:solidFill>
                <a:latin typeface="Noto Serif CJK SC"/>
                <a:ea typeface="Noto Serif CJK SC"/>
                <a:cs typeface="Noto Serif CJK SC"/>
              </a:rPr>
              <a:t>游戏体验 × 当前体验诉求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3986784"/>
            <a:ext cx="3419856" cy="1463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81818"/>
                </a:solidFill>
                <a:latin typeface="Noto Serif CJK SC"/>
                <a:ea typeface="Noto Serif CJK SC"/>
                <a:cs typeface="Noto Serif CJK SC"/>
              </a:rPr>
              <a:t>关系｜自主｜挑战｜角色｜创造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017520" y="4178808"/>
            <a:ext cx="0" cy="265176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Diamond 26"/>
          <p:cNvSpPr/>
          <p:nvPr/>
        </p:nvSpPr>
        <p:spPr>
          <a:xfrm>
            <a:off x="2240280" y="4443984"/>
            <a:ext cx="1554480" cy="585216"/>
          </a:xfrm>
          <a:prstGeom prst="diamond">
            <a:avLst/>
          </a:prstGeom>
          <a:solidFill>
            <a:srgbClr val="FFFFFF"/>
          </a:solidFill>
          <a:ln w="1206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67712" y="4462272"/>
            <a:ext cx="1499616" cy="5486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81818"/>
                </a:solidFill>
                <a:latin typeface="Noto Serif CJK SC"/>
                <a:ea typeface="Noto Serif CJK SC"/>
                <a:cs typeface="Noto Serif CJK SC"/>
              </a:rPr>
              <a:t>体验反馈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017520" y="5029200"/>
            <a:ext cx="0" cy="283464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94760" y="4736592"/>
            <a:ext cx="1179576" cy="0"/>
          </a:xfrm>
          <a:prstGeom prst="line">
            <a:avLst/>
          </a:prstGeom>
          <a:ln w="10795">
            <a:solidFill>
              <a:srgbClr val="3030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74336" y="4736592"/>
            <a:ext cx="0" cy="576072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057400" y="5312664"/>
            <a:ext cx="1920240" cy="411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06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84831" y="5330951"/>
            <a:ext cx="1865376" cy="3749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1818"/>
                </a:solidFill>
                <a:latin typeface="Noto Serif CJK SC"/>
                <a:ea typeface="Noto Serif CJK SC"/>
                <a:cs typeface="Noto Serif CJK SC"/>
              </a:rPr>
              <a:t>积极反馈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5312664"/>
            <a:ext cx="1207008" cy="411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06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98264" y="5330951"/>
            <a:ext cx="1152144" cy="3749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1818"/>
                </a:solidFill>
                <a:latin typeface="Noto Serif CJK SC"/>
                <a:ea typeface="Noto Serif CJK SC"/>
                <a:cs typeface="Noto Serif CJK SC"/>
              </a:rPr>
              <a:t>反馈不足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60704" y="6172200"/>
            <a:ext cx="1170432" cy="420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06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8136" y="6190488"/>
            <a:ext cx="1115568" cy="3840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1818"/>
                </a:solidFill>
                <a:latin typeface="Noto Serif CJK SC"/>
                <a:ea typeface="Noto Serif CJK SC"/>
                <a:cs typeface="Noto Serif CJK SC"/>
              </a:rPr>
              <a:t>再次参与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03904" y="6172200"/>
            <a:ext cx="1170432" cy="420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06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31336" y="6190488"/>
            <a:ext cx="1115568" cy="3840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1818"/>
                </a:solidFill>
                <a:latin typeface="Noto Serif CJK SC"/>
                <a:ea typeface="Noto Serif CJK SC"/>
                <a:cs typeface="Noto Serif CJK SC"/>
              </a:rPr>
              <a:t>再次选择</a:t>
            </a:r>
          </a:p>
        </p:txBody>
      </p:sp>
      <p:sp>
        <p:nvSpPr>
          <p:cNvPr id="40" name="Oval 39"/>
          <p:cNvSpPr/>
          <p:nvPr/>
        </p:nvSpPr>
        <p:spPr>
          <a:xfrm>
            <a:off x="2583180" y="5952744"/>
            <a:ext cx="868680" cy="868680"/>
          </a:xfrm>
          <a:prstGeom prst="ellipse">
            <a:avLst/>
          </a:prstGeom>
          <a:solidFill>
            <a:srgbClr val="FFFFFF"/>
          </a:solidFill>
          <a:ln w="1206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10612" y="5971031"/>
            <a:ext cx="813815" cy="83210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1818"/>
                </a:solidFill>
                <a:latin typeface="Noto Serif CJK SC"/>
                <a:ea typeface="Noto Serif CJK SC"/>
                <a:cs typeface="Noto Serif CJK SC"/>
              </a:rPr>
              <a:t>持续参与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5724144"/>
            <a:ext cx="822959" cy="448056"/>
          </a:xfrm>
          <a:custGeom>
            <a:avLst/>
            <a:gdLst/>
            <a:ahLst/>
            <a:cxnLst/>
            <a:rect l="0" t="0" r="w" b="h"/>
            <a:pathLst>
              <a:path w="100000" h="100000" fill="none">
                <a:moveTo>
                  <a:pt x="0" y="0"/>
                </a:moveTo>
                <a:cubicBezTo>
                  <a:pt x="52222" y="16327"/>
                  <a:pt x="85556" y="61224"/>
                  <a:pt x="100000" y="100000"/>
                </a:cubicBezTo>
              </a:path>
            </a:pathLst>
          </a:custGeom>
          <a:noFill/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645920" y="6592824"/>
            <a:ext cx="2743200" cy="365760"/>
          </a:xfrm>
          <a:custGeom>
            <a:avLst/>
            <a:gdLst/>
            <a:ahLst/>
            <a:cxnLst/>
            <a:rect l="0" t="0" r="w" b="h"/>
            <a:pathLst>
              <a:path w="100000" h="100000" fill="none">
                <a:moveTo>
                  <a:pt x="100000" y="0"/>
                </a:moveTo>
                <a:cubicBezTo>
                  <a:pt x="86667" y="100000"/>
                  <a:pt x="13333" y="100000"/>
                  <a:pt x="0" y="0"/>
                </a:cubicBezTo>
              </a:path>
            </a:pathLst>
          </a:custGeom>
          <a:noFill/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645920" y="5724144"/>
            <a:ext cx="685799" cy="448056"/>
          </a:xfrm>
          <a:custGeom>
            <a:avLst/>
            <a:gdLst/>
            <a:ahLst/>
            <a:cxnLst/>
            <a:rect l="0" t="0" r="w" b="h"/>
            <a:pathLst>
              <a:path w="100000" h="100000" fill="none">
                <a:moveTo>
                  <a:pt x="0" y="100000"/>
                </a:moveTo>
                <a:cubicBezTo>
                  <a:pt x="13333" y="55102"/>
                  <a:pt x="37333" y="18367"/>
                  <a:pt x="100000" y="0"/>
                </a:cubicBezTo>
              </a:path>
            </a:pathLst>
          </a:custGeom>
          <a:noFill/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5577840" y="5518404"/>
            <a:ext cx="164592" cy="0"/>
          </a:xfrm>
          <a:prstGeom prst="line">
            <a:avLst/>
          </a:prstGeom>
          <a:ln w="10795">
            <a:solidFill>
              <a:srgbClr val="30303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742432" y="1444752"/>
            <a:ext cx="0" cy="4073652"/>
          </a:xfrm>
          <a:prstGeom prst="line">
            <a:avLst/>
          </a:prstGeom>
          <a:ln w="10795">
            <a:solidFill>
              <a:srgbClr val="30303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4178808" y="1444752"/>
            <a:ext cx="1563624" cy="0"/>
          </a:xfrm>
          <a:prstGeom prst="line">
            <a:avLst/>
          </a:prstGeom>
          <a:ln w="10795">
            <a:solidFill>
              <a:srgbClr val="303030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824728" y="3154680"/>
            <a:ext cx="173736" cy="1143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81818"/>
                </a:solidFill>
                <a:latin typeface="Noto Serif CJK SC"/>
                <a:ea typeface="Noto Serif CJK SC"/>
                <a:cs typeface="Noto Serif CJK SC"/>
              </a:rPr>
              <a:t>重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81818"/>
                </a:solidFill>
                <a:latin typeface="Noto Serif CJK SC"/>
                <a:ea typeface="Noto Serif CJK SC"/>
                <a:cs typeface="Noto Serif CJK SC"/>
              </a:rPr>
              <a:t>新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81818"/>
                </a:solidFill>
                <a:latin typeface="Noto Serif CJK SC"/>
                <a:ea typeface="Noto Serif CJK SC"/>
                <a:cs typeface="Noto Serif CJK SC"/>
              </a:rPr>
              <a:t>选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81818"/>
                </a:solidFill>
                <a:latin typeface="Noto Serif CJK SC"/>
                <a:ea typeface="Noto Serif CJK SC"/>
                <a:cs typeface="Noto Serif CJK SC"/>
              </a:rPr>
              <a:t>择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017520" y="6867144"/>
            <a:ext cx="0" cy="283464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856231" y="7150608"/>
            <a:ext cx="2322576" cy="420624"/>
          </a:xfrm>
          <a:prstGeom prst="roundRect">
            <a:avLst>
              <a:gd name="adj" fmla="val 5500"/>
            </a:avLst>
          </a:prstGeom>
          <a:solidFill>
            <a:srgbClr val="F4F4F4"/>
          </a:solidFill>
          <a:ln w="1206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83663" y="7168896"/>
            <a:ext cx="2267712" cy="3840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81818"/>
                </a:solidFill>
                <a:latin typeface="Noto Serif CJK SC"/>
                <a:ea typeface="Noto Serif CJK SC"/>
                <a:cs typeface="Noto Serif CJK SC"/>
              </a:rPr>
              <a:t>相对稳定偏好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017520" y="7571231"/>
            <a:ext cx="0" cy="164593"/>
          </a:xfrm>
          <a:prstGeom prst="line">
            <a:avLst/>
          </a:prstGeom>
          <a:ln w="10795">
            <a:solidFill>
              <a:srgbClr val="3030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645920" y="7735824"/>
            <a:ext cx="2743200" cy="0"/>
          </a:xfrm>
          <a:prstGeom prst="line">
            <a:avLst/>
          </a:prstGeom>
          <a:ln w="10795">
            <a:solidFill>
              <a:srgbClr val="3030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645920" y="7735824"/>
            <a:ext cx="0" cy="210312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389120" y="7735824"/>
            <a:ext cx="0" cy="210312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502920" y="7946136"/>
            <a:ext cx="2286000" cy="420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06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0352" y="7964423"/>
            <a:ext cx="2231136" cy="3840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81818"/>
                </a:solidFill>
                <a:latin typeface="Noto Serif CJK SC"/>
                <a:ea typeface="Noto Serif CJK SC"/>
                <a:cs typeface="Noto Serif CJK SC"/>
              </a:rPr>
              <a:t>偏好线上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46120" y="7946136"/>
            <a:ext cx="2286000" cy="420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06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73551" y="7964423"/>
            <a:ext cx="2231136" cy="3840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81818"/>
                </a:solidFill>
                <a:latin typeface="Noto Serif CJK SC"/>
                <a:ea typeface="Noto Serif CJK SC"/>
                <a:cs typeface="Noto Serif CJK SC"/>
              </a:rPr>
              <a:t>偏好线下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