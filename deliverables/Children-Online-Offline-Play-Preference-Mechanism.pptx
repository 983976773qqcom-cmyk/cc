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据用户文字框架及论文第三部分（四）制作。主图保留原框架全部节点和方向。体验匹配中的乘号表示概念匹配，非统计交互项；线上和线下是参与路径，不表示互斥儿童类型。箭头呈现质性研究归纳的过程联系，不表示已检验的因果效应。另一页提供动态回路备选，可按论文论证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据用户文字框架及论文第三部分（四）制作。主图保留原框架全部节点和方向。体验匹配中的乘号表示概念匹配，非统计交互项；线上和线下是参与路径，不表示互斥儿童类型。箭头呈现质性研究归纳的过程联系，不表示已检验的因果效应。本页为动态回路备选：虚线表示再次参与及重新选择回到游戏接触与选择，呈现后续选择循环；仅作为可修改的机制表达，不新增实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"/>
            <a:ext cx="5029200" cy="84124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315468"/>
            <a:ext cx="4919472" cy="79552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347472"/>
            <a:ext cx="5029200" cy="27432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222222"/>
                </a:solidFill>
                <a:latin typeface="Noto Serif CJK SC"/>
              </a:defRPr>
            </a:pPr>
            <a:r>
              <a:t>现实选择条件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78992" y="694944"/>
            <a:ext cx="4700016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87552" y="786384"/>
            <a:ext cx="4882896" cy="237744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150" b="0">
                <a:solidFill>
                  <a:srgbClr val="222222"/>
                </a:solidFill>
                <a:latin typeface="Noto Serif CJK SC"/>
              </a:defRPr>
            </a:pPr>
            <a:r>
              <a:t>他人参与与引介｜成人支持与调节｜游戏资源可获得性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9000" y="1133856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86000" y="1380744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4" y="1403604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游戏接触与选择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773936"/>
            <a:ext cx="0" cy="146304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65960" y="1920240"/>
            <a:ext cx="2926080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65960" y="1920240"/>
            <a:ext cx="0" cy="182880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1920240"/>
            <a:ext cx="0" cy="182880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0120" y="2103120"/>
            <a:ext cx="201168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125979"/>
            <a:ext cx="1901952" cy="356616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线上游戏参与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2103120"/>
            <a:ext cx="201168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25979"/>
            <a:ext cx="1901952" cy="356616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线下游戏参与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2505456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794760" y="2505456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86000" y="2770632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40864" y="2793491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游戏体验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3163824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51560" y="3410712"/>
            <a:ext cx="4754880" cy="106984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3433572"/>
            <a:ext cx="4645152" cy="1024127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188720" y="3465576"/>
            <a:ext cx="4480560" cy="283464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222222"/>
                </a:solidFill>
                <a:latin typeface="Noto Serif CJK SC"/>
              </a:defRPr>
            </a:pPr>
            <a:r>
              <a:t>体验匹配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25296" y="3794760"/>
            <a:ext cx="4407408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8720" y="3867912"/>
            <a:ext cx="4480560" cy="22860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22222"/>
                </a:solidFill>
                <a:latin typeface="Noto Serif CJK SC"/>
              </a:defRPr>
            </a:pPr>
            <a:r>
              <a:t>游戏体验 × 当前体验诉求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97096"/>
            <a:ext cx="4480560" cy="20116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250" b="0">
                <a:solidFill>
                  <a:srgbClr val="222222"/>
                </a:solidFill>
                <a:latin typeface="Noto Serif CJK SC"/>
              </a:defRPr>
            </a:pPr>
            <a:r>
              <a:t>关系｜自主｜挑战｜角色｜创造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4480560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286000" y="4727448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40864" y="4750308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体验反馈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65960" y="5120640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94760" y="5120640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0120" y="538581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" y="540867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积极反馈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538581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41063" y="540867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反馈不足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65960" y="5779008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92040" y="5779008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0120" y="602589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" y="604875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再次参与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602589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063" y="604875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重新选择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65960" y="6419088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794760" y="6419088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286000" y="6684264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0864" y="6707124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持续参与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29000" y="7077456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148840" y="7324344"/>
            <a:ext cx="2560320" cy="42976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7347204"/>
            <a:ext cx="2450591" cy="38404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222222"/>
                </a:solidFill>
                <a:latin typeface="Noto Serif CJK SC"/>
              </a:defRPr>
            </a:pPr>
            <a:r>
              <a:t>相对稳定偏好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965960" y="7754112"/>
            <a:ext cx="1097280" cy="301752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94760" y="7754112"/>
            <a:ext cx="1097280" cy="301752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60120" y="8055864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" y="8078724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偏好线上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86200" y="8055864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41063" y="8078724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偏好线下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8686800"/>
            <a:ext cx="5943600" cy="22860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222222"/>
                </a:solidFill>
                <a:latin typeface="Noto Serif CJK SC"/>
              </a:defRPr>
            </a:pPr>
            <a:r>
              <a:t>图1  幼儿虚实游戏偏好的形成与分化机制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"/>
            <a:ext cx="5029200" cy="84124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315468"/>
            <a:ext cx="4919472" cy="79552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347472"/>
            <a:ext cx="5029200" cy="27432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222222"/>
                </a:solidFill>
                <a:latin typeface="Noto Serif CJK SC"/>
              </a:defRPr>
            </a:pPr>
            <a:r>
              <a:t>现实选择条件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78992" y="694944"/>
            <a:ext cx="4700016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87552" y="786384"/>
            <a:ext cx="4882896" cy="237744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150" b="0">
                <a:solidFill>
                  <a:srgbClr val="222222"/>
                </a:solidFill>
                <a:latin typeface="Noto Serif CJK SC"/>
              </a:defRPr>
            </a:pPr>
            <a:r>
              <a:t>他人参与与引介｜成人支持与调节｜游戏资源可获得性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9000" y="1133856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86000" y="1380744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4" y="1403604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游戏接触与选择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1773936"/>
            <a:ext cx="0" cy="146304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65960" y="1920240"/>
            <a:ext cx="2926080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65960" y="1920240"/>
            <a:ext cx="0" cy="182880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1920240"/>
            <a:ext cx="0" cy="182880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0120" y="2103120"/>
            <a:ext cx="201168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125979"/>
            <a:ext cx="1901952" cy="356616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线上游戏参与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2103120"/>
            <a:ext cx="2011680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25979"/>
            <a:ext cx="1901952" cy="356616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线下游戏参与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2505456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794760" y="2505456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86000" y="2770632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40864" y="2793491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游戏体验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3163824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51560" y="3410712"/>
            <a:ext cx="4754880" cy="106984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3433572"/>
            <a:ext cx="4645152" cy="1024127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188720" y="3465576"/>
            <a:ext cx="4480560" cy="283464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222222"/>
                </a:solidFill>
                <a:latin typeface="Noto Serif CJK SC"/>
              </a:defRPr>
            </a:pPr>
            <a:r>
              <a:t>体验匹配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25296" y="3794760"/>
            <a:ext cx="4407408" cy="0"/>
          </a:xfrm>
          <a:prstGeom prst="line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8720" y="3867912"/>
            <a:ext cx="4480560" cy="22860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22222"/>
                </a:solidFill>
                <a:latin typeface="Noto Serif CJK SC"/>
              </a:defRPr>
            </a:pPr>
            <a:r>
              <a:t>游戏体验 × 当前体验诉求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97096"/>
            <a:ext cx="4480560" cy="20116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250" b="0">
                <a:solidFill>
                  <a:srgbClr val="222222"/>
                </a:solidFill>
                <a:latin typeface="Noto Serif CJK SC"/>
              </a:defRPr>
            </a:pPr>
            <a:r>
              <a:t>关系｜自主｜挑战｜角色｜创造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4480560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286000" y="4727448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40864" y="4750308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体验反馈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65960" y="5120640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94760" y="5120640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0120" y="538581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" y="540867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积极反馈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538581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41063" y="540867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反馈不足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65960" y="5779008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92040" y="5779008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0120" y="602589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" y="604875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再次参与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6025896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063" y="6048756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重新选择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65960" y="6419088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794760" y="6419088"/>
            <a:ext cx="1097280" cy="265176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286000" y="6684264"/>
            <a:ext cx="228600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0864" y="6707124"/>
            <a:ext cx="217627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持续参与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29000" y="7077456"/>
            <a:ext cx="0" cy="246888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148840" y="7324344"/>
            <a:ext cx="2560320" cy="429768"/>
          </a:xfrm>
          <a:prstGeom prst="rect">
            <a:avLst/>
          </a:prstGeom>
          <a:solidFill>
            <a:srgbClr val="F5F5F5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7347204"/>
            <a:ext cx="2450591" cy="384048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222222"/>
                </a:solidFill>
                <a:latin typeface="Noto Serif CJK SC"/>
              </a:defRPr>
            </a:pPr>
            <a:r>
              <a:t>相对稳定偏好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965960" y="7754112"/>
            <a:ext cx="1097280" cy="301752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94760" y="7754112"/>
            <a:ext cx="1097280" cy="301752"/>
          </a:xfrm>
          <a:prstGeom prst="line">
            <a:avLst/>
          </a:prstGeom>
          <a:ln w="12700">
            <a:solidFill>
              <a:srgbClr val="5555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60120" y="8055864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" y="8078724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偏好线上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86200" y="8055864"/>
            <a:ext cx="2011680" cy="393192"/>
          </a:xfrm>
          <a:prstGeom prst="rect">
            <a:avLst/>
          </a:prstGeom>
          <a:solidFill>
            <a:srgbClr val="FFFFFF"/>
          </a:solidFill>
          <a:ln w="1143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41063" y="8078724"/>
            <a:ext cx="1901952" cy="347472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222222"/>
                </a:solidFill>
                <a:latin typeface="Noto Serif CJK SC"/>
              </a:defRPr>
            </a:pPr>
            <a:r>
              <a:t>偏好线下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594360" y="6217920"/>
            <a:ext cx="365760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94360" y="1581912"/>
            <a:ext cx="0" cy="4636008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94360" y="1581912"/>
            <a:ext cx="1691640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897880" y="6217920"/>
            <a:ext cx="384048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281928" y="1581912"/>
            <a:ext cx="0" cy="4636008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4572000" y="1581912"/>
            <a:ext cx="1709928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7200" y="8686800"/>
            <a:ext cx="5943600" cy="228600"/>
          </a:xfrm>
          <a:prstGeom prst="rect">
            <a:avLst/>
          </a:prstGeom>
          <a:noFill/>
          <a:effectLst/>
        </p:spPr>
        <p:txBody>
          <a:bodyPr wrap="square" lIns="27432" rIns="27432" tIns="0" bIns="0" anchor="ctr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222222"/>
                </a:solidFill>
                <a:latin typeface="Noto Serif CJK SC"/>
              </a:defRPr>
            </a:pPr>
            <a:r>
              <a:t>图1  幼儿虚实游戏偏好的形成与分化机制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