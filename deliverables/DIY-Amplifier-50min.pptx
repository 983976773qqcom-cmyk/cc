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0—1分钟。展示成品但不预先宣布效果。介绍：今天研究一套纸杯、弹簧和透明筒组成的声音装置。名称沿用教材“DIY扩音器”，但是否更响要用实际观察判断。让学生知道本课既要动手，也要找证据。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1—2分钟。把成人教学目标转换成学生任务。低年级完成组装并说出一个变化即可；高年级需说明公平比较条件，并区分观察与解释。不要承诺每个装置都能提高响度。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—4分钟。教师提前打好大小杯孔；核对孔和弹簧尺寸是否匹配；检查透明筒边缘、弹簧端头是否锋利。现场打孔和剪线只由教师操作。学生不拉长弹簧，不对耳朵喊，不将细线绕在身体上。分组试音，避免全班同时发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—6分钟。情境：操场上要提醒同学排队。允许回答靠近、安静、朝向听众、使用电子扩音设备。明确“听清”与“更响”不是同一回事：减少噪声也能帮助听清。展示装置，提问它是否也能改变声音，保持答案开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—9分钟。先由教师示范：指腹轻轻放在自己的喉咙外侧，正常音量发“啊”，比较发声与停止时感觉。不按压喉咙，不大叫。低年级说“有轻轻的动”；高年级区分直接感觉到的振动与传播到耳朵的声音。解释声带振动是这个活动的声源，不代表所有发声物都用声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—11分钟。图片来自原PPT第7页，按图编号点名：1透明筒，2弹簧，3棉线，4小纸杯，5大纸杯。教师预先打孔并检查锐边，工具不作为学生材料发放。让学生把材料放在桌面上，对照图片确认，不强行插入不匹配的零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11—13分钟。口头投票或在记录单圈选，可以多选，也可说没有变化。低年级用手势或简单词语；高年级补充理由。不要把“更响”作为正确答案，也不要提前纠正学生猜想。实验后回看原预测。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分钟，约30秒安排分工，包含在制作阶段。优先两人一组，也可三人。操作员组装，检查员对照图片并提醒安全；第三人负责记录。每一步交换角色。混龄组让高年级示范或提醒，避免替低年级全程代做。教师先演示再让学生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—17分钟。图片来自原PPT第9页。教师展示预先打好的杯底小孔；学生在指导下旋转弹簧，使其卡住杯底。由于教具尺寸未知，上课前务必用实际套件试装。不要用力刺穿杯底，也不直接触摸锋利端头。低年级困难时由教师协助，高年级负责检查固定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17—20分钟。图片来自原PPT第10页。示范把棉线系在弹簧另一端，轻轻检查是否松脱，不拉长弹簧。低年级不会打结时教师帮助；高年级可先练习打结再辅助检查。不把线缠到手指或脖子上。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20—25分钟。图片来自原PPT第11页。透明筒套在大杯底部，小杯底孔由教师提前做好，把棉线穿过小杯底孔。学生不自行钻孔。提醒保持零件排列方向，不挤压纸杯；遇到孔太小或筒不匹配，交给教师处理。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—29分钟。图片来自原PPT第12页。借棉线缓慢引导弹簧端到小杯底孔，轻轻旋转，让弹簧卡住。老师检查两端固定、弹簧端头与筒边缘，必要时处理不安全部位。多余棉线由老师剪，不要求学生为美观反复拆装。图中的红圈标出小杯连接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29—31分钟。逐组检查再允许试音。低年级指认大小杯连接；高年级对照三项检查。常见故障：杯底撕裂、弹簧松动、线结滑脱。停止使用，由教师修复或更换。不要让学生用拉扯来“测试强度”。提前准备一个教师装好的备用成品，进度较慢的小组可借用参加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31—33分钟。固定一名说话者和一名听者，说话与听者位置用桌边或地面标记。装置大杯口朝说话者、小杯口朝听者；听者保持距离，不贴耳。两种条件尽量保持说话者嘴和听者位置相同、方向相同、同一句话、同样努力的正常音量。口头音量难完全一致，所以要交换先后次序并重复。本活动仅为主观听感比较，不是声压级测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33—35分钟。条件A：不借助装置，在标记位置正常说“你好，科学！”；条件B：保持嘴和听者位置，拿入装置，对大纸杯口正常说同一句话。听者分别记录响度、音色和清晰度印象。其他人静音。不要求每个维度都有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—36分钟。固定同一说话者和听者，先装置后直接说，避免总把后一次当作更响。重复后才比较结论。若时间充裕，交换角色另做一组比较，但不要把不同说话者结果直接当成装置效果。三至四年级回答：为什么要重复？一至二年级回答：两次听起来一样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36—38分钟。分发记录单，低年级圈选或画图；高年级写一句证据。对比B与A，分开记录响度、音色、清晰度，允许不确定和不一致。主观结果不能被当成精确测量。老师巡视询问“你听到了什么”，不问“是不是变大了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38—39分钟，邀请两组简短分享。提示可能有“更响”“没明显变化”“音色变化”等不同观察。讨论音量、方向、连接状态与安静程度的影响，但不把这些当成未经检验的确定原因。提醒这节课只检验整个装置，未单独验证弹簧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39—42分钟。声音由振动产生，并可通过空气等介质传播。说话声进入装置，杯子、筒内空气和弹簧的振动响应可能影响听到的声音；空腔的共鸣与声音传出方向也可能影响听感。没有实际测量，不能断言哪个因素主导或一定增强响度。用可能、观察到、还需验证区分知识与本次推断。低年级掌握振动与传播；高年级了解整体装置对比不能证明单个零件的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42—45分钟。明确本套件没有电源、麦克风、电子放大电路或音圈。电子扩音器用电能驱动扬声器振动，使声音输出增强；本装置不额外提供电能，可能改变声音的传递、方向、共鸣与音色。原材料中音圈直接使声音变大是对电子装置的简化描述，不适用于本套件；删除无可靠来源的“1950年由雷威发明”及“比音箱穿透力强”概括，不安排历史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—47分钟。判断：1错误，只有声源等振动才产生相应声音，活动中用声带振动举例。2错误，音色变化不是响度提高，主观更响也不能证明电子放大。3正确，但补充两次不一致也要如实记录，尽量控制条件。低年级用拇指或口头判断，高年级每题给一句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47—49分钟。低年级完成一句“我做出了……/我听到了……”即可。高年级完成“我发现……，因为比较时……；我还不能确定……”。只邀请少量学生全班分享，其余向同伴说，确保留出清理时间。可以把课后任务设为向家人解释公平比较，不要求在家使用尖锐工具重新组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49—50分钟。收好装置、棉线与零件，垃圾分类按学校要求执行，洗手。有损坏交给教师，不随意拉扯或拆卸弹簧。教师课后保存学生观察，记录套件实际听感与组装问题，用于下一次课调整。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今天的科学挑战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50分钟 · 一至四年级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DIY扩音器：声音会发生什么变化？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94560"/>
            <a:ext cx="6629400" cy="3520440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5943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Noto Sans CJK SC"/>
              </a:defRPr>
            </a:pPr>
            <a:r>
              <a:t>先猜一猜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Noto Sans CJK SC"/>
              </a:defRPr>
            </a:pPr>
            <a:r>
              <a:t>再动手做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Noto Sans CJK SC"/>
              </a:defRPr>
            </a:pPr>
            <a:r>
              <a:t>最后用证据说话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468880"/>
            <a:ext cx="374903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今天的主角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383280"/>
            <a:ext cx="374903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163C40"/>
                </a:solidFill>
                <a:latin typeface="Noto Sans CJK SC"/>
              </a:defRPr>
            </a:pPr>
            <a:r>
              <a:t>两个纸杯</a:t>
            </a:r>
          </a:p>
          <a:p>
            <a:pPr>
              <a:spcAft>
                <a:spcPts val="1200"/>
              </a:spcAft>
              <a:defRPr sz="2700" b="0">
                <a:solidFill>
                  <a:srgbClr val="163C40"/>
                </a:solidFill>
                <a:latin typeface="Noto Sans CJK SC"/>
              </a:defRPr>
            </a:pPr>
            <a:r>
              <a:t>一根弹簧</a:t>
            </a:r>
          </a:p>
          <a:p>
            <a:pPr>
              <a:spcAft>
                <a:spcPts val="1200"/>
              </a:spcAft>
              <a:defRPr sz="2700" b="0">
                <a:solidFill>
                  <a:srgbClr val="163C40"/>
                </a:solidFill>
                <a:latin typeface="Noto Sans CJK SC"/>
              </a:defRPr>
            </a:pPr>
            <a:r>
              <a:t>一个透明筒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准备出发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0—4分钟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下课时，我能做到这三件事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会制作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和同伴合作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完成声音装置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7304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会观察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比较两种声音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说出实际变化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248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8848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会解释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8848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声音来自振动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结论要有证据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准备出发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0—4分钟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开工前，先约定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工具交给老师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打孔、剪线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老师来完成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7304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保护自己与同伴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不入口、不猛拉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不朝耳朵喊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248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8848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听到口令就暂停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8848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放下材料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先看老师示范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0527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06D70"/>
                </a:solidFill>
                <a:latin typeface="Noto Sans CJK SC"/>
              </a:defRPr>
            </a:pPr>
            <a:r>
              <a:t>细线不绕手指或脖子；有尖端、破损或卡住，举手求助。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发现问题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4—9分钟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人多的时候，怎样让别人听清？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想一想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操场上很吵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怎样让同伴听清？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7304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说一说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靠近一些？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安静一些？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248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8848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我们的挑战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8848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纸杯和弹簧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能改变声音吗？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发现问题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4—9分钟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先认识声音：轻声说“啊——”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轻轻碰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指尖轻放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自己的喉咙外侧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7304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说一说，停一停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发声时怎样？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停下时怎样？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248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8848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发现线索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8848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我们说话时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声带在振动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0527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06D70"/>
                </a:solidFill>
                <a:latin typeface="Noto Sans CJK SC"/>
              </a:defRPr>
            </a:pPr>
            <a:r>
              <a:t>只用正常音量，不用力按，不碰同伴。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认识材料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9—13分钟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材料侦探：你找到这五样了吗？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06</a:t>
            </a:r>
          </a:p>
        </p:txBody>
      </p:sp>
      <p:pic>
        <p:nvPicPr>
          <p:cNvPr id="9" name="Picture 8" descr="source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40" y="1965960"/>
            <a:ext cx="6164239" cy="4069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2011680"/>
            <a:ext cx="425196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2331720"/>
            <a:ext cx="37033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按图检查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154680"/>
            <a:ext cx="37033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① 透明筒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② 弹簧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③ 棉线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④ 小纸杯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⑤ 大纸杯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认识材料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9—13分钟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先预测：它会怎样改变声音？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我的猜想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更响 / 更轻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声音变了 / 没变化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7304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我的理由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我猜……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因为……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248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8848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怎么验证？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8848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同一句话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认真比较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动手制作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13—31分钟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合作制作：每个人都有任务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操作员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照图做一步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完成后先停手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7304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检查员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看连接是否稳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发现问题举手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248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8848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下一步交换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8848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轮流动手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轮流检查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0527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06D70"/>
                </a:solidFill>
                <a:latin typeface="Noto Sans CJK SC"/>
              </a:defRPr>
            </a:pPr>
            <a:r>
              <a:t>不同年级都要参与；同伴可以提醒，不包办。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动手制作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13—17分钟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第1步：把弹簧固定到大纸杯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09</a:t>
            </a:r>
          </a:p>
        </p:txBody>
      </p:sp>
      <p:pic>
        <p:nvPicPr>
          <p:cNvPr id="9" name="Picture 8" descr="source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73" y="1965960"/>
            <a:ext cx="6182572" cy="4069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2011680"/>
            <a:ext cx="425196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2331720"/>
            <a:ext cx="37033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旋转，不硬推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154680"/>
            <a:ext cx="37033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找到老师打好的孔。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轻轻旋转弹簧。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让它卡住杯底。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卡住了就停下来。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动手制作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17—20分钟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第2步：在弹簧另一端系好棉线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10</a:t>
            </a:r>
          </a:p>
        </p:txBody>
      </p:sp>
      <p:pic>
        <p:nvPicPr>
          <p:cNvPr id="9" name="Picture 8" descr="sourc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13" y="1965960"/>
            <a:ext cx="6170692" cy="4069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2011680"/>
            <a:ext cx="425196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2331720"/>
            <a:ext cx="37033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系好，再检查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154680"/>
            <a:ext cx="37033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找到弹簧另一端。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把棉线系牢。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轻轻试一下：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线会不会松开？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动手制作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20—25分钟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第3步：套上透明筒，穿过棉线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11</a:t>
            </a:r>
          </a:p>
        </p:txBody>
      </p:sp>
      <p:pic>
        <p:nvPicPr>
          <p:cNvPr id="9" name="Picture 8" descr="sourc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36" y="1965960"/>
            <a:ext cx="6160247" cy="4069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2011680"/>
            <a:ext cx="425196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2331720"/>
            <a:ext cx="37033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对照图片做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154680"/>
            <a:ext cx="37033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透明筒套在大杯底。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棉线穿过小杯底孔。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顺着线轻轻靠近。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不要用力拉弹簧。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动手制作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25—29分钟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第4步：把弹簧固定到小纸杯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12</a:t>
            </a:r>
          </a:p>
        </p:txBody>
      </p:sp>
      <p:pic>
        <p:nvPicPr>
          <p:cNvPr id="9" name="Picture 8" descr="sourc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69" y="1965960"/>
            <a:ext cx="6150181" cy="4069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2011680"/>
            <a:ext cx="425196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2331720"/>
            <a:ext cx="37033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连接完成！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154680"/>
            <a:ext cx="37033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用棉线轻轻引导。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旋转弹簧，让它卡住。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老师检查连接处。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多余棉线请老师剪。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动手制作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29—31分钟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完成了吗？先做安全检查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看连接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两个杯底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连接是否稳？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7304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看外观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杯子没有破损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没有危险尖端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248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8848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请老师确认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8848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检查通过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才能开始试音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比较声音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31—39分钟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怎样比较，才算公平？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人和位置相同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同一个人说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听者位置固定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7304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话和音量相同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都说“你好，科学！”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不用更大力喊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248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8848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环境尽量相同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8848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其他同学安静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换个顺序再比较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0527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06D70"/>
                </a:solidFill>
                <a:latin typeface="Noto Sans CJK SC"/>
              </a:defRPr>
            </a:pPr>
            <a:r>
              <a:t>装置不贴耳；一次只让指定小组发声。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比较声音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31—39分钟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第一轮：A → B，认真听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A：直接说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不用装置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“你好，科学！”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7304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B：用装置说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对大纸杯口说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“你好，科学！”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248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8848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听者先记录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8848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响不响？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声音有什么不同？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比较声音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31—39分钟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第二轮：B → A，再听一次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先B，后A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先用装置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再直接说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7304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位置不变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还是同一个人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还是同一句话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248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8848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比较两轮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8848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两次发现一致吗？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不一致也记下来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比较声音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31—39分钟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记录观察，不猜“标准答案”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响度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更响 / 差不多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更轻 / 不确定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7304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音色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普通 / 嗡嗡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回响 / 其他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248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8848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清晰度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8848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更清楚 / 差不多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更模糊 / 不确定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0527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06D70"/>
                </a:solidFill>
                <a:latin typeface="Noto Sans CJK SC"/>
              </a:defRPr>
            </a:pPr>
            <a:r>
              <a:t>低年级：圈一圈。高年级：再写一句“我的证据是……”。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比较声音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31—39分钟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我们的发现，有证据吗？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说观察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我们听到……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两轮结果……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7304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说证据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我们保持了……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我们重复了……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248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8848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留一个问题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8848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还不能确定……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下次可以再比较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理解原理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39—45分钟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声音为什么会变？先抓住三条线索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振动产生声音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我们说话时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声带在振动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7304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声音能够传播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声音通过空气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来到我们的耳朵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248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8848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装置可能改变听感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8848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杯子、筒和弹簧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可能影响声音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0527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06D70"/>
                </a:solidFill>
                <a:latin typeface="Noto Sans CJK SC"/>
              </a:defRPr>
            </a:pPr>
            <a:r>
              <a:t>具体改变了什么，以你的观察为准；弹簧的单独作用还需另做实验。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理解原理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39—45分钟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它和电子扩音器，是同一回事吗？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84831"/>
            <a:ext cx="5385816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9286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我们的声音装置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4928616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纸杯 + 弹簧 + 筒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没有电源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听感变化要验证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2084831"/>
            <a:ext cx="5385816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377440"/>
            <a:ext cx="49286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电子扩音器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3246120"/>
            <a:ext cx="4928616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麦克风接收声音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电路使用电能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扬声器发出声音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0527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06D70"/>
                </a:solidFill>
                <a:latin typeface="Noto Sans CJK SC"/>
              </a:defRPr>
            </a:pPr>
            <a:r>
              <a:t>都能参与声音活动，但结构和工作方式不同。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收获与整理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45—50分钟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小小判断题：你有自己的理由吗？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03120"/>
            <a:ext cx="1097280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102412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0">
                <a:solidFill>
                  <a:srgbClr val="163C40"/>
                </a:solidFill>
                <a:latin typeface="Noto Sans CJK SC"/>
              </a:defRPr>
            </a:pPr>
            <a:r>
              <a:t>① 声音不需要振动，也能产生。</a:t>
            </a:r>
          </a:p>
          <a:p>
            <a:pPr>
              <a:spcAft>
                <a:spcPts val="1200"/>
              </a:spcAft>
              <a:defRPr sz="2800" b="0">
                <a:solidFill>
                  <a:srgbClr val="163C40"/>
                </a:solidFill>
                <a:latin typeface="Noto Sans CJK SC"/>
              </a:defRPr>
            </a:pPr>
            <a:r>
              <a:t>② 声音变得不一样，就一定是更响了。</a:t>
            </a:r>
          </a:p>
          <a:p>
            <a:pPr>
              <a:spcAft>
                <a:spcPts val="1200"/>
              </a:spcAft>
              <a:defRPr sz="2800" b="0">
                <a:solidFill>
                  <a:srgbClr val="163C40"/>
                </a:solidFill>
                <a:latin typeface="Noto Sans CJK SC"/>
              </a:defRPr>
            </a:pPr>
            <a:r>
              <a:t>③ 比较时重复一次，能帮助我们判断。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收获与整理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45—50分钟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用一句话，说出今天的收获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84831"/>
            <a:ext cx="5385816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9286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一至二年级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4928616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我做出了……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我听到了……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2084831"/>
            <a:ext cx="5385816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377440"/>
            <a:ext cx="49286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三至四年级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3246120"/>
            <a:ext cx="4928616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我的证据是……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我还想验证……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0527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06D70"/>
                </a:solidFill>
                <a:latin typeface="Noto Sans CJK SC"/>
              </a:defRPr>
            </a:pPr>
            <a:r>
              <a:t>回家可以讲给家人听；不对着任何人的耳朵试音。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920240" cy="347472"/>
          </a:xfrm>
          <a:prstGeom prst="roundRect">
            <a:avLst>
              <a:gd name="adj" fmla="val 12000"/>
            </a:avLst>
          </a:prstGeom>
          <a:solidFill>
            <a:srgbClr val="14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收获与整理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566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06D70"/>
                </a:solidFill>
                <a:latin typeface="Noto Sans CJK SC"/>
              </a:defRPr>
            </a:pPr>
            <a:r>
              <a:t>45—50分钟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63C40"/>
                </a:solidFill>
                <a:latin typeface="Noto Sans CJK SC"/>
              </a:defRPr>
            </a:pPr>
            <a:r>
              <a:t>科学家离开前，会整理实验台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22860"/>
          </a:xfrm>
          <a:prstGeom prst="rect">
            <a:avLst/>
          </a:prstGeom>
          <a:solidFill>
            <a:srgbClr val="E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D70"/>
                </a:solidFill>
                <a:latin typeface="Noto Sans CJK SC"/>
              </a:defRPr>
            </a:pPr>
            <a:r>
              <a:t>小牛顿科学 · DIY扩音器  |  观察 • 制作 • 比较 • 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99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7D80"/>
                </a:solidFill>
                <a:latin typeface="Noto Sans CJK SC"/>
              </a:defRPr>
            </a:pPr>
            <a: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收好材料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零件不遗落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坏了交给老师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7304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整理桌面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垃圾放进桶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不缠线、不猛拉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248" y="2084831"/>
            <a:ext cx="351434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8848" y="237744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47D80"/>
                </a:solidFill>
                <a:latin typeface="Noto Sans CJK SC"/>
              </a:defRPr>
            </a:pPr>
            <a:r>
              <a:t>带走好问题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8848" y="3246120"/>
            <a:ext cx="30571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洗手后再离开</a:t>
            </a:r>
          </a:p>
          <a:p>
            <a:pPr>
              <a:spcAft>
                <a:spcPts val="1200"/>
              </a:spcAft>
              <a:defRPr sz="2300" b="0">
                <a:solidFill>
                  <a:srgbClr val="163C40"/>
                </a:solidFill>
                <a:latin typeface="Noto Sans CJK SC"/>
              </a:defRPr>
            </a:pPr>
            <a:r>
              <a:t>下次继续探索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