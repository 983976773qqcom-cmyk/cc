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315200" cy="83210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用户本次上传的版本为内容依据，仅作紧凑布局重排。保留原宋体、加粗层级、黑白线条和全部机制路径。现实选择条件改为多行说明，与游戏接触与选择横向并置；两类参与仍平行汇入游戏体验；体验反馈之后保留原有积极反馈循环、中央持续参与以及反馈不足沿右侧重新选择回路返回接触与选择。画布宽8英寸、高9.1英寸，比原8×12英寸在同宽印刷时减少约24%高度。图题不置于图内，可在论文中另行设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1468" y="271462"/>
            <a:ext cx="3843337" cy="1007268"/>
          </a:xfrm>
          <a:prstGeom prst="roundRect">
            <a:avLst>
              <a:gd name="adj" fmla="val 4964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5762" y="321468"/>
            <a:ext cx="3714750" cy="29289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现实选择条件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5762" y="714375"/>
            <a:ext cx="3714750" cy="2143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他人参与与引介｜成人支持与调节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5762" y="1000125"/>
            <a:ext cx="3714750" cy="200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游戏资源可获得性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64806" y="778668"/>
            <a:ext cx="407194" cy="0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0" y="542925"/>
            <a:ext cx="2100262" cy="464343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7718" y="557212"/>
            <a:ext cx="2028825" cy="43576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68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游戏接触与选择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22131" y="1007268"/>
            <a:ext cx="0" cy="385763"/>
          </a:xfrm>
          <a:prstGeom prst="line">
            <a:avLst/>
          </a:prstGeom>
          <a:ln w="2000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07368" y="1393031"/>
            <a:ext cx="3814763" cy="0"/>
          </a:xfrm>
          <a:prstGeom prst="line">
            <a:avLst/>
          </a:prstGeom>
          <a:ln w="2000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807368" y="1393031"/>
            <a:ext cx="0" cy="207169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00637" y="1393031"/>
            <a:ext cx="0" cy="207169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92931" y="1600200"/>
            <a:ext cx="2428875" cy="464343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650" y="1614487"/>
            <a:ext cx="2357437" cy="43576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68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线上游戏参与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1600200"/>
            <a:ext cx="2428875" cy="464343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21918" y="1614487"/>
            <a:ext cx="2357437" cy="43576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68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线下游戏参与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07368" y="2064543"/>
            <a:ext cx="0" cy="171450"/>
          </a:xfrm>
          <a:prstGeom prst="line">
            <a:avLst/>
          </a:prstGeom>
          <a:ln w="2000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100637" y="2064543"/>
            <a:ext cx="0" cy="171450"/>
          </a:xfrm>
          <a:prstGeom prst="line">
            <a:avLst/>
          </a:prstGeom>
          <a:ln w="2000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07368" y="2235993"/>
            <a:ext cx="3293269" cy="0"/>
          </a:xfrm>
          <a:prstGeom prst="line">
            <a:avLst/>
          </a:prstGeom>
          <a:ln w="2000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450431" y="2235993"/>
            <a:ext cx="0" cy="185738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235993" y="2421731"/>
            <a:ext cx="2428875" cy="464343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71712" y="2436018"/>
            <a:ext cx="2357437" cy="43576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68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游戏体验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450431" y="2886075"/>
            <a:ext cx="0" cy="221456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721643" y="3107531"/>
            <a:ext cx="3457575" cy="935831"/>
          </a:xfrm>
          <a:prstGeom prst="roundRect">
            <a:avLst>
              <a:gd name="adj" fmla="val 5343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1656" y="3150393"/>
            <a:ext cx="3257550" cy="32146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81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体验匹配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914525" y="3500437"/>
            <a:ext cx="3071812" cy="0"/>
          </a:xfrm>
          <a:prstGeom prst="line">
            <a:avLst/>
          </a:prstGeom>
          <a:ln w="10001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828800" y="3543300"/>
            <a:ext cx="3243262" cy="2214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游戏体验 × 当前体验诉求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3807618"/>
            <a:ext cx="3243262" cy="19288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关系｜自主｜挑战｜角色｜创造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450431" y="4043362"/>
            <a:ext cx="0" cy="214313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Diamond 29"/>
          <p:cNvSpPr/>
          <p:nvPr/>
        </p:nvSpPr>
        <p:spPr>
          <a:xfrm>
            <a:off x="2493168" y="4257675"/>
            <a:ext cx="1914525" cy="585787"/>
          </a:xfrm>
          <a:prstGeom prst="diamond">
            <a:avLst/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28887" y="4271962"/>
            <a:ext cx="1843087" cy="5572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43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体验反馈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450431" y="4843462"/>
            <a:ext cx="0" cy="228600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407693" y="4550568"/>
            <a:ext cx="1414463" cy="0"/>
          </a:xfrm>
          <a:prstGeom prst="line">
            <a:avLst/>
          </a:prstGeom>
          <a:ln w="2000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822156" y="4550568"/>
            <a:ext cx="0" cy="521494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378868" y="5072062"/>
            <a:ext cx="2143125" cy="428625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14587" y="5086350"/>
            <a:ext cx="2071687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积极反馈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00625" y="5072062"/>
            <a:ext cx="1650206" cy="428625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36343" y="5086350"/>
            <a:ext cx="1578768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反馈不足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78731" y="5815012"/>
            <a:ext cx="1514475" cy="428625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14450" y="5829300"/>
            <a:ext cx="1443037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再次参与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07656" y="5815012"/>
            <a:ext cx="1514475" cy="428625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43375" y="5829300"/>
            <a:ext cx="1443037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再次选择</a:t>
            </a:r>
          </a:p>
        </p:txBody>
      </p:sp>
      <p:sp>
        <p:nvSpPr>
          <p:cNvPr id="43" name="Oval 42"/>
          <p:cNvSpPr/>
          <p:nvPr/>
        </p:nvSpPr>
        <p:spPr>
          <a:xfrm>
            <a:off x="2921793" y="5572125"/>
            <a:ext cx="1057275" cy="1057275"/>
          </a:xfrm>
          <a:prstGeom prst="ellipse">
            <a:avLst/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57512" y="5586412"/>
            <a:ext cx="985837" cy="1028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31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持续参与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71937" y="5500687"/>
            <a:ext cx="792956" cy="314325"/>
          </a:xfrm>
          <a:custGeom>
            <a:avLst/>
            <a:gdLst/>
            <a:ahLst/>
            <a:cxnLst/>
            <a:rect l="0" t="0" r="w" b="h"/>
            <a:pathLst>
              <a:path w="100000" h="100000" fill="none">
                <a:moveTo>
                  <a:pt x="0" y="0"/>
                </a:moveTo>
                <a:cubicBezTo>
                  <a:pt x="44144" y="18182"/>
                  <a:pt x="86486" y="56818"/>
                  <a:pt x="100000" y="100000"/>
                </a:cubicBezTo>
              </a:path>
            </a:pathLst>
          </a:custGeom>
          <a:noFill/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035968" y="6243637"/>
            <a:ext cx="2828925" cy="514350"/>
          </a:xfrm>
          <a:custGeom>
            <a:avLst/>
            <a:gdLst/>
            <a:ahLst/>
            <a:cxnLst/>
            <a:rect l="0" t="0" r="w" b="h"/>
            <a:pathLst>
              <a:path w="100000" h="100000" fill="none">
                <a:moveTo>
                  <a:pt x="100000" y="0"/>
                </a:moveTo>
                <a:cubicBezTo>
                  <a:pt x="82323" y="100000"/>
                  <a:pt x="16667" y="100000"/>
                  <a:pt x="0" y="0"/>
                </a:cubicBezTo>
              </a:path>
            </a:pathLst>
          </a:custGeom>
          <a:noFill/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035968" y="5500687"/>
            <a:ext cx="514350" cy="314325"/>
          </a:xfrm>
          <a:custGeom>
            <a:avLst/>
            <a:gdLst/>
            <a:ahLst/>
            <a:cxnLst/>
            <a:rect l="0" t="0" r="w" b="h"/>
            <a:pathLst>
              <a:path w="100000" h="100000" fill="none">
                <a:moveTo>
                  <a:pt x="0" y="100000"/>
                </a:moveTo>
                <a:cubicBezTo>
                  <a:pt x="19444" y="52273"/>
                  <a:pt x="56944" y="18182"/>
                  <a:pt x="100000" y="0"/>
                </a:cubicBezTo>
              </a:path>
            </a:pathLst>
          </a:custGeom>
          <a:noFill/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6650831" y="5286375"/>
            <a:ext cx="135731" cy="0"/>
          </a:xfrm>
          <a:prstGeom prst="line">
            <a:avLst/>
          </a:prstGeom>
          <a:ln w="20002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786562" y="778668"/>
            <a:ext cx="0" cy="4507707"/>
          </a:xfrm>
          <a:prstGeom prst="line">
            <a:avLst/>
          </a:prstGeom>
          <a:ln w="20002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6672262" y="778668"/>
            <a:ext cx="114300" cy="0"/>
          </a:xfrm>
          <a:prstGeom prst="line">
            <a:avLst/>
          </a:prstGeom>
          <a:ln w="20002">
            <a:solidFill>
              <a:srgbClr val="000000"/>
            </a:solidFill>
            <a:prstDash val="dash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922293" y="2671762"/>
            <a:ext cx="178593" cy="107156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8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重
新
选
择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450431" y="6629400"/>
            <a:ext cx="0" cy="250031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2235993" y="6879431"/>
            <a:ext cx="2428875" cy="428625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71712" y="6893718"/>
            <a:ext cx="2357437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相对稳定偏好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450431" y="7308056"/>
            <a:ext cx="0" cy="142875"/>
          </a:xfrm>
          <a:prstGeom prst="line">
            <a:avLst/>
          </a:prstGeom>
          <a:ln w="2000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807368" y="7450931"/>
            <a:ext cx="3293269" cy="0"/>
          </a:xfrm>
          <a:prstGeom prst="line">
            <a:avLst/>
          </a:prstGeom>
          <a:ln w="2000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807368" y="7450931"/>
            <a:ext cx="0" cy="192881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100637" y="7450931"/>
            <a:ext cx="0" cy="192881"/>
          </a:xfrm>
          <a:prstGeom prst="line">
            <a:avLst/>
          </a:prstGeom>
          <a:ln w="20002">
            <a:solidFill>
              <a:srgbClr val="00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592931" y="7643812"/>
            <a:ext cx="2428875" cy="428625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8650" y="7658100"/>
            <a:ext cx="2357437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12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偏好线上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886200" y="7643812"/>
            <a:ext cx="2428875" cy="428625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2000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921918" y="7658100"/>
            <a:ext cx="2357437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12" b="1">
                <a:solidFill>
                  <a:srgbClr val="000000"/>
                </a:solidFill>
                <a:latin typeface="Noto Serif CJK SC"/>
                <a:ea typeface="Noto Serif CJK SC"/>
                <a:cs typeface="Noto Serif CJK SC"/>
              </a:rPr>
              <a:t>偏好线下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